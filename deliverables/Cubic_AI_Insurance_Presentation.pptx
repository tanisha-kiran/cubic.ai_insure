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baa0c8662412b" /><Relationship Type="http://schemas.openxmlformats.org/officeDocument/2006/relationships/extended-properties" Target="/docProps/app.xml" Id="Ra6874c96bf204fcc" /><Relationship Type="http://schemas.openxmlformats.org/officeDocument/2006/relationships/officeDocument" Target="/ppt/presentation.xml" Id="R77948e671b2440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427e9be1e4673"/>
  </p:sldMasterIdLst>
  <p:notesMasterIdLst>
    <p:notesMasterId xmlns:r="http://schemas.openxmlformats.org/officeDocument/2006/relationships" r:id="Reab48fec4f2a423d"/>
  </p:notesMasterIdLst>
  <p:sldIdLst>
    <p:sldId xmlns:r="http://schemas.openxmlformats.org/officeDocument/2006/relationships" id="256" r:id="R3f521e4ad8354e72"/>
    <p:sldId xmlns:r="http://schemas.openxmlformats.org/officeDocument/2006/relationships" id="257" r:id="Ra9191cd336c941f9"/>
    <p:sldId xmlns:r="http://schemas.openxmlformats.org/officeDocument/2006/relationships" id="258" r:id="Rddf05076d9294a71"/>
    <p:sldId xmlns:r="http://schemas.openxmlformats.org/officeDocument/2006/relationships" id="259" r:id="R29503df20a834a8e"/>
    <p:sldId xmlns:r="http://schemas.openxmlformats.org/officeDocument/2006/relationships" id="260" r:id="Rb309661c42694bc8"/>
    <p:sldId xmlns:r="http://schemas.openxmlformats.org/officeDocument/2006/relationships" id="261" r:id="Raedbf6f51a3e4b2b"/>
    <p:sldId xmlns:r="http://schemas.openxmlformats.org/officeDocument/2006/relationships" id="262" r:id="Rf8e278efe51d4437"/>
    <p:sldId xmlns:r="http://schemas.openxmlformats.org/officeDocument/2006/relationships" id="263" r:id="R5beff495a5a54bef"/>
    <p:sldId xmlns:r="http://schemas.openxmlformats.org/officeDocument/2006/relationships" id="264" r:id="Rca3662306b594d2d"/>
    <p:sldId xmlns:r="http://schemas.openxmlformats.org/officeDocument/2006/relationships" id="265" r:id="Rf4453cd52f204e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d9e6d50346438b" /><Relationship Type="http://schemas.openxmlformats.org/officeDocument/2006/relationships/slideMaster" Target="/ppt/slideMasters/slideMaster1.xml" Id="R055427e9be1e4673" /><Relationship Type="http://schemas.openxmlformats.org/officeDocument/2006/relationships/notesMaster" Target="/ppt/notesMasters/notesMaster1.xml" Id="Reab48fec4f2a423d" /><Relationship Type="http://schemas.openxmlformats.org/officeDocument/2006/relationships/presProps" Target="/ppt/presProps.xml" Id="R71a220a39d724729" /><Relationship Type="http://schemas.openxmlformats.org/officeDocument/2006/relationships/tableStyles" Target="/ppt/tableStyles.xml" Id="Ra1e4177494aa4a5a" /><Relationship Type="http://schemas.openxmlformats.org/officeDocument/2006/relationships/slide" Target="/ppt/slides/slide1.xml" Id="R3f521e4ad8354e72" /><Relationship Type="http://schemas.openxmlformats.org/officeDocument/2006/relationships/slide" Target="/ppt/slides/slide2.xml" Id="Ra9191cd336c941f9" /><Relationship Type="http://schemas.openxmlformats.org/officeDocument/2006/relationships/slide" Target="/ppt/slides/slide3.xml" Id="Rddf05076d9294a71" /><Relationship Type="http://schemas.openxmlformats.org/officeDocument/2006/relationships/slide" Target="/ppt/slides/slide4.xml" Id="R29503df20a834a8e" /><Relationship Type="http://schemas.openxmlformats.org/officeDocument/2006/relationships/slide" Target="/ppt/slides/slide5.xml" Id="Rb309661c42694bc8" /><Relationship Type="http://schemas.openxmlformats.org/officeDocument/2006/relationships/slide" Target="/ppt/slides/slide6.xml" Id="Raedbf6f51a3e4b2b" /><Relationship Type="http://schemas.openxmlformats.org/officeDocument/2006/relationships/slide" Target="/ppt/slides/slide7.xml" Id="Rf8e278efe51d4437" /><Relationship Type="http://schemas.openxmlformats.org/officeDocument/2006/relationships/slide" Target="/ppt/slides/slide8.xml" Id="R5beff495a5a54bef" /><Relationship Type="http://schemas.openxmlformats.org/officeDocument/2006/relationships/slide" Target="/ppt/slides/slide9.xml" Id="Rca3662306b594d2d" /><Relationship Type="http://schemas.openxmlformats.org/officeDocument/2006/relationships/slide" Target="/ppt/slides/slide10.xml" Id="Rf4453cd52f20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80ce180b2242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1ce25426a4fde" /><Relationship Type="http://schemas.openxmlformats.org/officeDocument/2006/relationships/notesMaster" Target="/ppt/notesMasters/notesMaster1.xml" Id="R1b31a0239d83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157ff7fc6e4adb" /><Relationship Type="http://schemas.openxmlformats.org/officeDocument/2006/relationships/notesMaster" Target="/ppt/notesMasters/notesMaster1.xml" Id="Ra88faffef3124c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46d2096b374b69" /><Relationship Type="http://schemas.openxmlformats.org/officeDocument/2006/relationships/notesMaster" Target="/ppt/notesMasters/notesMaster1.xml" Id="R91994a6c43cb41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43c21de2e440b6" /><Relationship Type="http://schemas.openxmlformats.org/officeDocument/2006/relationships/notesMaster" Target="/ppt/notesMasters/notesMaster1.xml" Id="Ra6d2365d073145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2246c85034b48" /><Relationship Type="http://schemas.openxmlformats.org/officeDocument/2006/relationships/notesMaster" Target="/ppt/notesMasters/notesMaster1.xml" Id="R2cc6ed09987d49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1b8f2c98e43ee" /><Relationship Type="http://schemas.openxmlformats.org/officeDocument/2006/relationships/notesMaster" Target="/ppt/notesMasters/notesMaster1.xml" Id="R0f7fd28f227d48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85923d1b464001" /><Relationship Type="http://schemas.openxmlformats.org/officeDocument/2006/relationships/notesMaster" Target="/ppt/notesMasters/notesMaster1.xml" Id="Raa8a405950ae4b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47092ede64c7c" /><Relationship Type="http://schemas.openxmlformats.org/officeDocument/2006/relationships/notesMaster" Target="/ppt/notesMasters/notesMaster1.xml" Id="R09d27c292e6a46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728e295a44a7a" /><Relationship Type="http://schemas.openxmlformats.org/officeDocument/2006/relationships/notesMaster" Target="/ppt/notesMasters/notesMaster1.xml" Id="Rf5b2a9dfc2fe43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490aac1ea34431" /><Relationship Type="http://schemas.openxmlformats.org/officeDocument/2006/relationships/notesMaster" Target="/ppt/notesMasters/notesMaster1.xml" Id="R855c03ac2995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39cba3d6e48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02b0fbd9641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7064f0c1643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5b11d672c44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79f7efaab42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9548784a449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7985EA-5A80-4E22-B0B8-0E998E0ED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1DF82A-077B-4024-BE91-9CFD6C3BC4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E9F94B-661B-46E2-A08F-7328F75DF0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7AD9E0-E4F4-4CD0-B5B8-B2441084C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BC7E8E-0943-486D-9B13-22060708A9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9ED615-956D-4754-B71E-78D126EDC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A7CED0-E4A3-4BEE-9093-A12B9E7542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C43CE2-DD29-4302-B24B-00E287C6C2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AB572-4BE9-40A4-9E96-A81F7203A4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8A6330-FDC3-4E29-8D13-819F59A8AE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ab8c233ef54bae" /><Relationship Type="http://schemas.openxmlformats.org/officeDocument/2006/relationships/slideLayout" Target="/ppt/slideLayouts/slideLayout1.xml" Id="R802aa65e3409426f" /><Relationship Type="http://schemas.openxmlformats.org/officeDocument/2006/relationships/slideLayout" Target="/ppt/slideLayouts/slideLayout2.xml" Id="Rd3e645b472054dbb" /><Relationship Type="http://schemas.openxmlformats.org/officeDocument/2006/relationships/slideLayout" Target="/ppt/slideLayouts/slideLayout3.xml" Id="R986c8b792fa34973" /><Relationship Type="http://schemas.openxmlformats.org/officeDocument/2006/relationships/slideLayout" Target="/ppt/slideLayouts/slideLayout4.xml" Id="R773134f5a3ab49b5" /><Relationship Type="http://schemas.openxmlformats.org/officeDocument/2006/relationships/slideLayout" Target="/ppt/slideLayouts/slideLayout5.xml" Id="R8ff659a09d514755" /><Relationship Type="http://schemas.openxmlformats.org/officeDocument/2006/relationships/slideLayout" Target="/ppt/slideLayouts/slideLayout6.xml" Id="R6fb0ed4ccc644c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aa65e3409426f"/>
    <p:sldLayoutId xmlns:r="http://schemas.openxmlformats.org/officeDocument/2006/relationships" id="2147483650" r:id="Rd3e645b472054dbb"/>
    <p:sldLayoutId xmlns:r="http://schemas.openxmlformats.org/officeDocument/2006/relationships" id="2147483651" r:id="R986c8b792fa34973"/>
    <p:sldLayoutId xmlns:r="http://schemas.openxmlformats.org/officeDocument/2006/relationships" id="2147483652" r:id="R773134f5a3ab49b5"/>
    <p:sldLayoutId xmlns:r="http://schemas.openxmlformats.org/officeDocument/2006/relationships" id="2147483653" r:id="R8ff659a09d514755"/>
    <p:sldLayoutId xmlns:r="http://schemas.openxmlformats.org/officeDocument/2006/relationships" id="2147483654" r:id="R6fb0ed4ccc644c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2e2595a1b4b0d" /><Relationship Type="http://schemas.openxmlformats.org/officeDocument/2006/relationships/notesSlide" Target="/ppt/notesSlides/notesSlide1.xml" Id="Rc3cc255abbc546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09cf7488340b0" /><Relationship Type="http://schemas.openxmlformats.org/officeDocument/2006/relationships/notesSlide" Target="/ppt/notesSlides/notesSlide2.xml" Id="R5717022532434d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26cdf1fbc4b95" /><Relationship Type="http://schemas.openxmlformats.org/officeDocument/2006/relationships/notesSlide" Target="/ppt/notesSlides/notesSlide3.xml" Id="Rc2655e76d9d540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dcf8d74f34eb6" /><Relationship Type="http://schemas.openxmlformats.org/officeDocument/2006/relationships/notesSlide" Target="/ppt/notesSlides/notesSlide4.xml" Id="R4664fbc551fb44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e49b2e00754591" /><Relationship Type="http://schemas.openxmlformats.org/officeDocument/2006/relationships/notesSlide" Target="/ppt/notesSlides/notesSlide5.xml" Id="R20b89b742e3b42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223f02db64adf" /><Relationship Type="http://schemas.openxmlformats.org/officeDocument/2006/relationships/notesSlide" Target="/ppt/notesSlides/notesSlide6.xml" Id="R1c9ed409758740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08b6be2f54e0d" /><Relationship Type="http://schemas.openxmlformats.org/officeDocument/2006/relationships/notesSlide" Target="/ppt/notesSlides/notesSlide7.xml" Id="R5bf63959eff0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0c9369a054fd2" /><Relationship Type="http://schemas.openxmlformats.org/officeDocument/2006/relationships/notesSlide" Target="/ppt/notesSlides/notesSlide8.xml" Id="R5ac7c11c7b20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057a70932455f" /><Relationship Type="http://schemas.openxmlformats.org/officeDocument/2006/relationships/notesSlide" Target="/ppt/notesSlides/notesSlide9.xml" Id="R1e66f0eafdb244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b2efabcba47d2" /><Relationship Type="http://schemas.openxmlformats.org/officeDocument/2006/relationships/notesSlide" Target="/ppt/notesSlides/notesSlide10.xml" Id="R615d30d4c7ab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FD2CD-B0DB-40DB-A327-343ABB4B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457A7"/>
                </a:solidFill>
              </a:defRPr>
            </a:defPPr>
            <a:lvl1pPr>
              <a:defRPr sz="1200" b="1">
                <a:solidFill>
                  <a:srgbClr val="2457A7"/>
                </a:solidFill>
              </a:defRPr>
            </a:lvl1pPr>
            <a:lvl2pPr>
              <a:defRPr sz="1200" b="1">
                <a:solidFill>
                  <a:srgbClr val="2457A7"/>
                </a:solidFill>
              </a:defRPr>
            </a:lvl2pPr>
            <a:lvl3pPr>
              <a:defRPr sz="1200" b="1">
                <a:solidFill>
                  <a:srgbClr val="2457A7"/>
                </a:solidFill>
              </a:defRPr>
            </a:lvl3pPr>
            <a:lvl4pPr>
              <a:defRPr sz="1200" b="1">
                <a:solidFill>
                  <a:srgbClr val="2457A7"/>
                </a:solidFill>
              </a:defRPr>
            </a:lvl4pPr>
            <a:lvl5pPr>
              <a:defRPr sz="1200" b="1">
                <a:solidFill>
                  <a:srgbClr val="2457A7"/>
                </a:solidFill>
              </a:defRPr>
            </a:lvl5pPr>
            <a:lvl6pPr>
              <a:defRPr sz="1200" b="1">
                <a:solidFill>
                  <a:srgbClr val="2457A7"/>
                </a:solidFill>
              </a:defRPr>
            </a:lvl6pPr>
            <a:lvl7pPr>
              <a:defRPr sz="1200" b="1">
                <a:solidFill>
                  <a:srgbClr val="2457A7"/>
                </a:solidFill>
              </a:defRPr>
            </a:lvl7pPr>
            <a:lvl8pPr>
              <a:defRPr sz="1200" b="1">
                <a:solidFill>
                  <a:srgbClr val="2457A7"/>
                </a:solidFill>
              </a:defRPr>
            </a:lvl8pPr>
            <a:lvl9pPr>
              <a:defRPr sz="12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457A7"/>
                </a:solidFill>
              </a:defRPr>
            </a:pPr>
            <a:r>
              <a:rPr sz="1200" b="1">
                <a:solidFill>
                  <a:srgbClr val="2457A7"/>
                </a:solidFill>
              </a:rPr>
              <a:t>CUBIC.AI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4D984-9DE5-47CA-B531-33109AB6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A56"/>
                </a:solidFill>
              </a:defRPr>
            </a:defPPr>
            <a:lvl1pPr>
              <a:defRPr sz="3300" b="1">
                <a:solidFill>
                  <a:srgbClr val="102A56"/>
                </a:solidFill>
              </a:defRPr>
            </a:lvl1pPr>
            <a:lvl2pPr>
              <a:defRPr sz="3300" b="1">
                <a:solidFill>
                  <a:srgbClr val="102A56"/>
                </a:solidFill>
              </a:defRPr>
            </a:lvl2pPr>
            <a:lvl3pPr>
              <a:defRPr sz="3300" b="1">
                <a:solidFill>
                  <a:srgbClr val="102A56"/>
                </a:solidFill>
              </a:defRPr>
            </a:lvl3pPr>
            <a:lvl4pPr>
              <a:defRPr sz="3300" b="1">
                <a:solidFill>
                  <a:srgbClr val="102A56"/>
                </a:solidFill>
              </a:defRPr>
            </a:lvl4pPr>
            <a:lvl5pPr>
              <a:defRPr sz="3300" b="1">
                <a:solidFill>
                  <a:srgbClr val="102A56"/>
                </a:solidFill>
              </a:defRPr>
            </a:lvl5pPr>
            <a:lvl6pPr>
              <a:defRPr sz="3300" b="1">
                <a:solidFill>
                  <a:srgbClr val="102A56"/>
                </a:solidFill>
              </a:defRPr>
            </a:lvl6pPr>
            <a:lvl7pPr>
              <a:defRPr sz="3300" b="1">
                <a:solidFill>
                  <a:srgbClr val="102A56"/>
                </a:solidFill>
              </a:defRPr>
            </a:lvl7pPr>
            <a:lvl8pPr>
              <a:defRPr sz="3300" b="1">
                <a:solidFill>
                  <a:srgbClr val="102A56"/>
                </a:solidFill>
              </a:defRPr>
            </a:lvl8pPr>
            <a:lvl9pPr>
              <a:defRPr sz="33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56"/>
                </a:solidFill>
              </a:defRPr>
            </a:pPr>
            <a:r>
              <a:rPr sz="3300" b="1">
                <a:solidFill>
                  <a:srgbClr val="102A56"/>
                </a:solidFill>
              </a:rPr>
              <a:t>Insurance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CB38B-C611-4A24-85DB-B508452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A"/>
                </a:solidFill>
              </a:defRPr>
            </a:defPPr>
            <a:lvl1pPr>
              <a:defRPr sz="1650" b="0">
                <a:solidFill>
                  <a:srgbClr val="62708A"/>
                </a:solidFill>
              </a:defRPr>
            </a:lvl1pPr>
            <a:lvl2pPr>
              <a:defRPr sz="1650" b="0">
                <a:solidFill>
                  <a:srgbClr val="62708A"/>
                </a:solidFill>
              </a:defRPr>
            </a:lvl2pPr>
            <a:lvl3pPr>
              <a:defRPr sz="1650" b="0">
                <a:solidFill>
                  <a:srgbClr val="62708A"/>
                </a:solidFill>
              </a:defRPr>
            </a:lvl3pPr>
            <a:lvl4pPr>
              <a:defRPr sz="1650" b="0">
                <a:solidFill>
                  <a:srgbClr val="62708A"/>
                </a:solidFill>
              </a:defRPr>
            </a:lvl4pPr>
            <a:lvl5pPr>
              <a:defRPr sz="1650" b="0">
                <a:solidFill>
                  <a:srgbClr val="62708A"/>
                </a:solidFill>
              </a:defRPr>
            </a:lvl5pPr>
            <a:lvl6pPr>
              <a:defRPr sz="1650" b="0">
                <a:solidFill>
                  <a:srgbClr val="62708A"/>
                </a:solidFill>
              </a:defRPr>
            </a:lvl6pPr>
            <a:lvl7pPr>
              <a:defRPr sz="1650" b="0">
                <a:solidFill>
                  <a:srgbClr val="62708A"/>
                </a:solidFill>
              </a:defRPr>
            </a:lvl7pPr>
            <a:lvl8pPr>
              <a:defRPr sz="1650" b="0">
                <a:solidFill>
                  <a:srgbClr val="62708A"/>
                </a:solidFill>
              </a:defRPr>
            </a:lvl8pPr>
            <a:lvl9pPr>
              <a:defRPr sz="1650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A"/>
                </a:solidFill>
              </a:defRPr>
            </a:pPr>
            <a:r>
              <a:rPr sz="1650" b="0">
                <a:solidFill>
                  <a:srgbClr val="62708A"/>
                </a:solidFill>
              </a:rPr>
              <a:t>Policy questions, coverage checks and claims guidance in the existing cubic.ai chat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A291F-B7E2-402B-901E-EF0731D0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50"/>
            <a:ext cx="361950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5EA5-77E3-453B-8A4D-6AB760FD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19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457A7"/>
                </a:solidFill>
              </a:defRPr>
            </a:defPPr>
            <a:lvl1pPr>
              <a:defRPr sz="1050" b="1">
                <a:solidFill>
                  <a:srgbClr val="2457A7"/>
                </a:solidFill>
              </a:defRPr>
            </a:lvl1pPr>
            <a:lvl2pPr>
              <a:defRPr sz="1050" b="1">
                <a:solidFill>
                  <a:srgbClr val="2457A7"/>
                </a:solidFill>
              </a:defRPr>
            </a:lvl2pPr>
            <a:lvl3pPr>
              <a:defRPr sz="1050" b="1">
                <a:solidFill>
                  <a:srgbClr val="2457A7"/>
                </a:solidFill>
              </a:defRPr>
            </a:lvl3pPr>
            <a:lvl4pPr>
              <a:defRPr sz="1050" b="1">
                <a:solidFill>
                  <a:srgbClr val="2457A7"/>
                </a:solidFill>
              </a:defRPr>
            </a:lvl4pPr>
            <a:lvl5pPr>
              <a:defRPr sz="1050" b="1">
                <a:solidFill>
                  <a:srgbClr val="2457A7"/>
                </a:solidFill>
              </a:defRPr>
            </a:lvl5pPr>
            <a:lvl6pPr>
              <a:defRPr sz="1050" b="1">
                <a:solidFill>
                  <a:srgbClr val="2457A7"/>
                </a:solidFill>
              </a:defRPr>
            </a:lvl6pPr>
            <a:lvl7pPr>
              <a:defRPr sz="1050" b="1">
                <a:solidFill>
                  <a:srgbClr val="2457A7"/>
                </a:solidFill>
              </a:defRPr>
            </a:lvl7pPr>
            <a:lvl8pPr>
              <a:defRPr sz="1050" b="1">
                <a:solidFill>
                  <a:srgbClr val="2457A7"/>
                </a:solidFill>
              </a:defRPr>
            </a:lvl8pPr>
            <a:lvl9pPr>
              <a:defRPr sz="105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57A7"/>
                </a:solidFill>
              </a:defRPr>
            </a:pPr>
            <a:r>
              <a:rPr sz="1050" b="1">
                <a:solidFill>
                  <a:srgbClr val="2457A7"/>
                </a:solidFill>
              </a:rPr>
              <a:t>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B0147-B7E3-4B06-982D-4928E3DD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56"/>
                </a:solidFill>
              </a:defRPr>
            </a:defPPr>
            <a:lvl1pPr>
              <a:defRPr sz="2250" b="1">
                <a:solidFill>
                  <a:srgbClr val="102A56"/>
                </a:solidFill>
              </a:defRPr>
            </a:lvl1pPr>
            <a:lvl2pPr>
              <a:defRPr sz="2250" b="1">
                <a:solidFill>
                  <a:srgbClr val="102A56"/>
                </a:solidFill>
              </a:defRPr>
            </a:lvl2pPr>
            <a:lvl3pPr>
              <a:defRPr sz="2250" b="1">
                <a:solidFill>
                  <a:srgbClr val="102A56"/>
                </a:solidFill>
              </a:defRPr>
            </a:lvl3pPr>
            <a:lvl4pPr>
              <a:defRPr sz="2250" b="1">
                <a:solidFill>
                  <a:srgbClr val="102A56"/>
                </a:solidFill>
              </a:defRPr>
            </a:lvl4pPr>
            <a:lvl5pPr>
              <a:defRPr sz="2250" b="1">
                <a:solidFill>
                  <a:srgbClr val="102A56"/>
                </a:solidFill>
              </a:defRPr>
            </a:lvl5pPr>
            <a:lvl6pPr>
              <a:defRPr sz="2250" b="1">
                <a:solidFill>
                  <a:srgbClr val="102A56"/>
                </a:solidFill>
              </a:defRPr>
            </a:lvl6pPr>
            <a:lvl7pPr>
              <a:defRPr sz="2250" b="1">
                <a:solidFill>
                  <a:srgbClr val="102A56"/>
                </a:solidFill>
              </a:defRPr>
            </a:lvl7pPr>
            <a:lvl8pPr>
              <a:defRPr sz="2250" b="1">
                <a:solidFill>
                  <a:srgbClr val="102A56"/>
                </a:solidFill>
              </a:defRPr>
            </a:lvl8pPr>
            <a:lvl9pPr>
              <a:defRPr sz="22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2A56"/>
                </a:solidFill>
              </a:defRPr>
            </a:pPr>
            <a:r>
              <a:rPr sz="2250" b="1">
                <a:solidFill>
                  <a:srgbClr val="102A56"/>
                </a:solidFill>
              </a:rPr>
              <a:t>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CF279-2869-4751-8A4E-6AE6D135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479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56"/>
                </a:solidFill>
              </a:defRPr>
            </a:defPPr>
            <a:lvl1pPr>
              <a:defRPr sz="2250" b="1">
                <a:solidFill>
                  <a:srgbClr val="102A56"/>
                </a:solidFill>
              </a:defRPr>
            </a:lvl1pPr>
            <a:lvl2pPr>
              <a:defRPr sz="2250" b="1">
                <a:solidFill>
                  <a:srgbClr val="102A56"/>
                </a:solidFill>
              </a:defRPr>
            </a:lvl2pPr>
            <a:lvl3pPr>
              <a:defRPr sz="2250" b="1">
                <a:solidFill>
                  <a:srgbClr val="102A56"/>
                </a:solidFill>
              </a:defRPr>
            </a:lvl3pPr>
            <a:lvl4pPr>
              <a:defRPr sz="2250" b="1">
                <a:solidFill>
                  <a:srgbClr val="102A56"/>
                </a:solidFill>
              </a:defRPr>
            </a:lvl4pPr>
            <a:lvl5pPr>
              <a:defRPr sz="2250" b="1">
                <a:solidFill>
                  <a:srgbClr val="102A56"/>
                </a:solidFill>
              </a:defRPr>
            </a:lvl5pPr>
            <a:lvl6pPr>
              <a:defRPr sz="2250" b="1">
                <a:solidFill>
                  <a:srgbClr val="102A56"/>
                </a:solidFill>
              </a:defRPr>
            </a:lvl6pPr>
            <a:lvl7pPr>
              <a:defRPr sz="2250" b="1">
                <a:solidFill>
                  <a:srgbClr val="102A56"/>
                </a:solidFill>
              </a:defRPr>
            </a:lvl7pPr>
            <a:lvl8pPr>
              <a:defRPr sz="2250" b="1">
                <a:solidFill>
                  <a:srgbClr val="102A56"/>
                </a:solidFill>
              </a:defRPr>
            </a:lvl8pPr>
            <a:lvl9pPr>
              <a:defRPr sz="22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2A56"/>
                </a:solidFill>
              </a:defRPr>
            </a:pPr>
            <a:r>
              <a:rPr sz="2250" b="1">
                <a:solidFill>
                  <a:srgbClr val="102A56"/>
                </a:solidFill>
              </a:rPr>
              <a:t>Check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9105F-B869-411B-9E5F-3098B71E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56"/>
                </a:solidFill>
              </a:defRPr>
            </a:defPPr>
            <a:lvl1pPr>
              <a:defRPr sz="2250" b="1">
                <a:solidFill>
                  <a:srgbClr val="102A56"/>
                </a:solidFill>
              </a:defRPr>
            </a:lvl1pPr>
            <a:lvl2pPr>
              <a:defRPr sz="2250" b="1">
                <a:solidFill>
                  <a:srgbClr val="102A56"/>
                </a:solidFill>
              </a:defRPr>
            </a:lvl2pPr>
            <a:lvl3pPr>
              <a:defRPr sz="2250" b="1">
                <a:solidFill>
                  <a:srgbClr val="102A56"/>
                </a:solidFill>
              </a:defRPr>
            </a:lvl3pPr>
            <a:lvl4pPr>
              <a:defRPr sz="2250" b="1">
                <a:solidFill>
                  <a:srgbClr val="102A56"/>
                </a:solidFill>
              </a:defRPr>
            </a:lvl4pPr>
            <a:lvl5pPr>
              <a:defRPr sz="2250" b="1">
                <a:solidFill>
                  <a:srgbClr val="102A56"/>
                </a:solidFill>
              </a:defRPr>
            </a:lvl5pPr>
            <a:lvl6pPr>
              <a:defRPr sz="2250" b="1">
                <a:solidFill>
                  <a:srgbClr val="102A56"/>
                </a:solidFill>
              </a:defRPr>
            </a:lvl6pPr>
            <a:lvl7pPr>
              <a:defRPr sz="2250" b="1">
                <a:solidFill>
                  <a:srgbClr val="102A56"/>
                </a:solidFill>
              </a:defRPr>
            </a:lvl7pPr>
            <a:lvl8pPr>
              <a:defRPr sz="2250" b="1">
                <a:solidFill>
                  <a:srgbClr val="102A56"/>
                </a:solidFill>
              </a:defRPr>
            </a:lvl8pPr>
            <a:lvl9pPr>
              <a:defRPr sz="22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2A56"/>
                </a:solidFill>
              </a:defRPr>
            </a:pPr>
            <a:r>
              <a:rPr sz="2250" b="1">
                <a:solidFill>
                  <a:srgbClr val="102A56"/>
                </a:solidFill>
              </a:rPr>
              <a:t>Prepare a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3947C-4235-4497-B5DF-0BA4C2AD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A"/>
                </a:solidFill>
              </a:defRPr>
            </a:defPPr>
            <a:lvl1pPr>
              <a:defRPr sz="1050" b="0">
                <a:solidFill>
                  <a:srgbClr val="62708A"/>
                </a:solidFill>
              </a:defRPr>
            </a:lvl1pPr>
            <a:lvl2pPr>
              <a:defRPr sz="1050" b="0">
                <a:solidFill>
                  <a:srgbClr val="62708A"/>
                </a:solidFill>
              </a:defRPr>
            </a:lvl2pPr>
            <a:lvl3pPr>
              <a:defRPr sz="1050" b="0">
                <a:solidFill>
                  <a:srgbClr val="62708A"/>
                </a:solidFill>
              </a:defRPr>
            </a:lvl3pPr>
            <a:lvl4pPr>
              <a:defRPr sz="1050" b="0">
                <a:solidFill>
                  <a:srgbClr val="62708A"/>
                </a:solidFill>
              </a:defRPr>
            </a:lvl4pPr>
            <a:lvl5pPr>
              <a:defRPr sz="1050" b="0">
                <a:solidFill>
                  <a:srgbClr val="62708A"/>
                </a:solidFill>
              </a:defRPr>
            </a:lvl5pPr>
            <a:lvl6pPr>
              <a:defRPr sz="1050" b="0">
                <a:solidFill>
                  <a:srgbClr val="62708A"/>
                </a:solidFill>
              </a:defRPr>
            </a:lvl6pPr>
            <a:lvl7pPr>
              <a:defRPr sz="1050" b="0">
                <a:solidFill>
                  <a:srgbClr val="62708A"/>
                </a:solidFill>
              </a:defRPr>
            </a:lvl7pPr>
            <a:lvl8pPr>
              <a:defRPr sz="1050" b="0">
                <a:solidFill>
                  <a:srgbClr val="62708A"/>
                </a:solidFill>
              </a:defRPr>
            </a:lvl8pPr>
            <a:lvl9pPr>
              <a:defRPr sz="1050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A"/>
                </a:solidFill>
              </a:defRPr>
            </a:pPr>
            <a:r>
              <a:rPr sz="1050" b="0">
                <a:solidFill>
                  <a:srgbClr val="62708A"/>
                </a:solidFill>
              </a:rPr>
              <a:t>10 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591438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E07B0-8C98-41F2-9DDD-F65ADADF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02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69C65-6334-478D-9BAC-463B6AA3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Problem and 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EAB36-4859-4D76-A48B-7B5021C6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08A"/>
                </a:solidFill>
              </a:defRPr>
            </a:defPPr>
            <a:lvl1pPr>
              <a:defRPr sz="1275" b="0">
                <a:solidFill>
                  <a:srgbClr val="62708A"/>
                </a:solidFill>
              </a:defRPr>
            </a:lvl1pPr>
            <a:lvl2pPr>
              <a:defRPr sz="1275" b="0">
                <a:solidFill>
                  <a:srgbClr val="62708A"/>
                </a:solidFill>
              </a:defRPr>
            </a:lvl2pPr>
            <a:lvl3pPr>
              <a:defRPr sz="1275" b="0">
                <a:solidFill>
                  <a:srgbClr val="62708A"/>
                </a:solidFill>
              </a:defRPr>
            </a:lvl3pPr>
            <a:lvl4pPr>
              <a:defRPr sz="1275" b="0">
                <a:solidFill>
                  <a:srgbClr val="62708A"/>
                </a:solidFill>
              </a:defRPr>
            </a:lvl4pPr>
            <a:lvl5pPr>
              <a:defRPr sz="1275" b="0">
                <a:solidFill>
                  <a:srgbClr val="62708A"/>
                </a:solidFill>
              </a:defRPr>
            </a:lvl5pPr>
            <a:lvl6pPr>
              <a:defRPr sz="1275" b="0">
                <a:solidFill>
                  <a:srgbClr val="62708A"/>
                </a:solidFill>
              </a:defRPr>
            </a:lvl6pPr>
            <a:lvl7pPr>
              <a:defRPr sz="1275" b="0">
                <a:solidFill>
                  <a:srgbClr val="62708A"/>
                </a:solidFill>
              </a:defRPr>
            </a:lvl7pPr>
            <a:lvl8pPr>
              <a:defRPr sz="1275" b="0">
                <a:solidFill>
                  <a:srgbClr val="62708A"/>
                </a:solidFill>
              </a:defRPr>
            </a:lvl8pPr>
            <a:lvl9pPr>
              <a:defRPr sz="127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08A"/>
                </a:solidFill>
              </a:defRPr>
            </a:pPr>
            <a:r>
              <a:rPr sz="1275" b="0">
                <a:solidFill>
                  <a:srgbClr val="62708A"/>
                </a:solidFill>
              </a:rPr>
              <a:t>Insurance wording is difficult to navigate when a user needs an answer or a claim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6768C-6CD9-457A-9A97-5879BBF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D0BC8-0317-4508-A2A5-CFBB8410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4F08D-0F8E-407B-BC44-CF1C1094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Users need answers tied to their own policy clauses and pages.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F2C67-E06B-4B77-B4B7-91BE0A9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D721E-0055-468D-B339-40D71B8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Coverage questions need clear treatment of exclusions and uncertainty.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123F8-0601-43FE-9C9F-9DE67958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64D57-9510-4C08-8797-6F3D581E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Claim preparation needs a boundary between drafting help and an actual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7629422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159A8-C2A0-4207-9E5F-0328EFFB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03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7C456-D91A-4C7F-95D8-3B4D7A3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What the feature adds to cubic.ai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F8621-FDA0-4E22-AC6C-6863164D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2F58C-DBC0-48D4-AC38-27FBBE25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E054C-F6BB-4EC1-B906-C569CE14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56"/>
                </a:solidFill>
              </a:defRPr>
            </a:defPPr>
            <a:lvl1pPr>
              <a:defRPr sz="1575" b="1">
                <a:solidFill>
                  <a:srgbClr val="102A56"/>
                </a:solidFill>
              </a:defRPr>
            </a:lvl1pPr>
            <a:lvl2pPr>
              <a:defRPr sz="1575" b="1">
                <a:solidFill>
                  <a:srgbClr val="102A56"/>
                </a:solidFill>
              </a:defRPr>
            </a:lvl2pPr>
            <a:lvl3pPr>
              <a:defRPr sz="1575" b="1">
                <a:solidFill>
                  <a:srgbClr val="102A56"/>
                </a:solidFill>
              </a:defRPr>
            </a:lvl3pPr>
            <a:lvl4pPr>
              <a:defRPr sz="1575" b="1">
                <a:solidFill>
                  <a:srgbClr val="102A56"/>
                </a:solidFill>
              </a:defRPr>
            </a:lvl4pPr>
            <a:lvl5pPr>
              <a:defRPr sz="1575" b="1">
                <a:solidFill>
                  <a:srgbClr val="102A56"/>
                </a:solidFill>
              </a:defRPr>
            </a:lvl5pPr>
            <a:lvl6pPr>
              <a:defRPr sz="1575" b="1">
                <a:solidFill>
                  <a:srgbClr val="102A56"/>
                </a:solidFill>
              </a:defRPr>
            </a:lvl6pPr>
            <a:lvl7pPr>
              <a:defRPr sz="1575" b="1">
                <a:solidFill>
                  <a:srgbClr val="102A56"/>
                </a:solidFill>
              </a:defRPr>
            </a:lvl7pPr>
            <a:lvl8pPr>
              <a:defRPr sz="1575" b="1">
                <a:solidFill>
                  <a:srgbClr val="102A56"/>
                </a:solidFill>
              </a:defRPr>
            </a:lvl8pPr>
            <a:lvl9pPr>
              <a:defRPr sz="1575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56"/>
                </a:solidFill>
              </a:defRPr>
            </a:pPr>
            <a:r>
              <a:rPr sz="1575" b="1">
                <a:solidFill>
                  <a:srgbClr val="102A56"/>
                </a:solidFill>
              </a:rPr>
              <a:t>Policy 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F21F9-B60F-47AC-8F13-85145D3C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08A"/>
                </a:solidFill>
              </a:defRPr>
            </a:defPPr>
            <a:lvl1pPr>
              <a:defRPr sz="1125" b="0">
                <a:solidFill>
                  <a:srgbClr val="62708A"/>
                </a:solidFill>
              </a:defRPr>
            </a:lvl1pPr>
            <a:lvl2pPr>
              <a:defRPr sz="1125" b="0">
                <a:solidFill>
                  <a:srgbClr val="62708A"/>
                </a:solidFill>
              </a:defRPr>
            </a:lvl2pPr>
            <a:lvl3pPr>
              <a:defRPr sz="1125" b="0">
                <a:solidFill>
                  <a:srgbClr val="62708A"/>
                </a:solidFill>
              </a:defRPr>
            </a:lvl3pPr>
            <a:lvl4pPr>
              <a:defRPr sz="1125" b="0">
                <a:solidFill>
                  <a:srgbClr val="62708A"/>
                </a:solidFill>
              </a:defRPr>
            </a:lvl4pPr>
            <a:lvl5pPr>
              <a:defRPr sz="1125" b="0">
                <a:solidFill>
                  <a:srgbClr val="62708A"/>
                </a:solidFill>
              </a:defRPr>
            </a:lvl5pPr>
            <a:lvl6pPr>
              <a:defRPr sz="1125" b="0">
                <a:solidFill>
                  <a:srgbClr val="62708A"/>
                </a:solidFill>
              </a:defRPr>
            </a:lvl6pPr>
            <a:lvl7pPr>
              <a:defRPr sz="1125" b="0">
                <a:solidFill>
                  <a:srgbClr val="62708A"/>
                </a:solidFill>
              </a:defRPr>
            </a:lvl7pPr>
            <a:lvl8pPr>
              <a:defRPr sz="1125" b="0">
                <a:solidFill>
                  <a:srgbClr val="62708A"/>
                </a:solidFill>
              </a:defRPr>
            </a:lvl8pPr>
            <a:lvl9pPr>
              <a:defRPr sz="112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08A"/>
                </a:solidFill>
              </a:defRPr>
            </a:pPr>
            <a:r>
              <a:rPr sz="1125" b="0">
                <a:solidFill>
                  <a:srgbClr val="62708A"/>
                </a:solidFill>
              </a:rPr>
              <a:t>Answers with policy clause citations or an abstention.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0618B-34ED-41CE-BF5C-BBF00A6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047875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0FF2-1955-430B-93B9-C79F7E1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66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56"/>
                </a:solidFill>
              </a:defRPr>
            </a:defPPr>
            <a:lvl1pPr>
              <a:defRPr sz="1575" b="1">
                <a:solidFill>
                  <a:srgbClr val="102A56"/>
                </a:solidFill>
              </a:defRPr>
            </a:lvl1pPr>
            <a:lvl2pPr>
              <a:defRPr sz="1575" b="1">
                <a:solidFill>
                  <a:srgbClr val="102A56"/>
                </a:solidFill>
              </a:defRPr>
            </a:lvl2pPr>
            <a:lvl3pPr>
              <a:defRPr sz="1575" b="1">
                <a:solidFill>
                  <a:srgbClr val="102A56"/>
                </a:solidFill>
              </a:defRPr>
            </a:lvl3pPr>
            <a:lvl4pPr>
              <a:defRPr sz="1575" b="1">
                <a:solidFill>
                  <a:srgbClr val="102A56"/>
                </a:solidFill>
              </a:defRPr>
            </a:lvl4pPr>
            <a:lvl5pPr>
              <a:defRPr sz="1575" b="1">
                <a:solidFill>
                  <a:srgbClr val="102A56"/>
                </a:solidFill>
              </a:defRPr>
            </a:lvl5pPr>
            <a:lvl6pPr>
              <a:defRPr sz="1575" b="1">
                <a:solidFill>
                  <a:srgbClr val="102A56"/>
                </a:solidFill>
              </a:defRPr>
            </a:lvl6pPr>
            <a:lvl7pPr>
              <a:defRPr sz="1575" b="1">
                <a:solidFill>
                  <a:srgbClr val="102A56"/>
                </a:solidFill>
              </a:defRPr>
            </a:lvl7pPr>
            <a:lvl8pPr>
              <a:defRPr sz="1575" b="1">
                <a:solidFill>
                  <a:srgbClr val="102A56"/>
                </a:solidFill>
              </a:defRPr>
            </a:lvl8pPr>
            <a:lvl9pPr>
              <a:defRPr sz="1575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56"/>
                </a:solidFill>
              </a:defRPr>
            </a:pPr>
            <a:r>
              <a:rPr sz="1575" b="1">
                <a:solidFill>
                  <a:srgbClr val="102A56"/>
                </a:solidFill>
              </a:rPr>
              <a:t>Coverage-gap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1115E-E3A2-44FA-B750-2FA1CC5F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47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08A"/>
                </a:solidFill>
              </a:defRPr>
            </a:defPPr>
            <a:lvl1pPr>
              <a:defRPr sz="1125" b="0">
                <a:solidFill>
                  <a:srgbClr val="62708A"/>
                </a:solidFill>
              </a:defRPr>
            </a:lvl1pPr>
            <a:lvl2pPr>
              <a:defRPr sz="1125" b="0">
                <a:solidFill>
                  <a:srgbClr val="62708A"/>
                </a:solidFill>
              </a:defRPr>
            </a:lvl2pPr>
            <a:lvl3pPr>
              <a:defRPr sz="1125" b="0">
                <a:solidFill>
                  <a:srgbClr val="62708A"/>
                </a:solidFill>
              </a:defRPr>
            </a:lvl3pPr>
            <a:lvl4pPr>
              <a:defRPr sz="1125" b="0">
                <a:solidFill>
                  <a:srgbClr val="62708A"/>
                </a:solidFill>
              </a:defRPr>
            </a:lvl4pPr>
            <a:lvl5pPr>
              <a:defRPr sz="1125" b="0">
                <a:solidFill>
                  <a:srgbClr val="62708A"/>
                </a:solidFill>
              </a:defRPr>
            </a:lvl5pPr>
            <a:lvl6pPr>
              <a:defRPr sz="1125" b="0">
                <a:solidFill>
                  <a:srgbClr val="62708A"/>
                </a:solidFill>
              </a:defRPr>
            </a:lvl6pPr>
            <a:lvl7pPr>
              <a:defRPr sz="1125" b="0">
                <a:solidFill>
                  <a:srgbClr val="62708A"/>
                </a:solidFill>
              </a:defRPr>
            </a:lvl7pPr>
            <a:lvl8pPr>
              <a:defRPr sz="1125" b="0">
                <a:solidFill>
                  <a:srgbClr val="62708A"/>
                </a:solidFill>
              </a:defRPr>
            </a:lvl8pPr>
            <a:lvl9pPr>
              <a:defRPr sz="112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08A"/>
                </a:solidFill>
              </a:defRPr>
            </a:pPr>
            <a:r>
              <a:rPr sz="1125" b="0">
                <a:solidFill>
                  <a:srgbClr val="62708A"/>
                </a:solidFill>
              </a:rPr>
              <a:t>Classifies a described situation as covered, excluded or unclear.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0350D-7274-4074-B582-1027BD10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DD9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9817E-6F0A-42BC-B9E8-64F7FE4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56"/>
                </a:solidFill>
              </a:defRPr>
            </a:defPPr>
            <a:lvl1pPr>
              <a:defRPr sz="1575" b="1">
                <a:solidFill>
                  <a:srgbClr val="102A56"/>
                </a:solidFill>
              </a:defRPr>
            </a:lvl1pPr>
            <a:lvl2pPr>
              <a:defRPr sz="1575" b="1">
                <a:solidFill>
                  <a:srgbClr val="102A56"/>
                </a:solidFill>
              </a:defRPr>
            </a:lvl2pPr>
            <a:lvl3pPr>
              <a:defRPr sz="1575" b="1">
                <a:solidFill>
                  <a:srgbClr val="102A56"/>
                </a:solidFill>
              </a:defRPr>
            </a:lvl3pPr>
            <a:lvl4pPr>
              <a:defRPr sz="1575" b="1">
                <a:solidFill>
                  <a:srgbClr val="102A56"/>
                </a:solidFill>
              </a:defRPr>
            </a:lvl4pPr>
            <a:lvl5pPr>
              <a:defRPr sz="1575" b="1">
                <a:solidFill>
                  <a:srgbClr val="102A56"/>
                </a:solidFill>
              </a:defRPr>
            </a:lvl5pPr>
            <a:lvl6pPr>
              <a:defRPr sz="1575" b="1">
                <a:solidFill>
                  <a:srgbClr val="102A56"/>
                </a:solidFill>
              </a:defRPr>
            </a:lvl6pPr>
            <a:lvl7pPr>
              <a:defRPr sz="1575" b="1">
                <a:solidFill>
                  <a:srgbClr val="102A56"/>
                </a:solidFill>
              </a:defRPr>
            </a:lvl7pPr>
            <a:lvl8pPr>
              <a:defRPr sz="1575" b="1">
                <a:solidFill>
                  <a:srgbClr val="102A56"/>
                </a:solidFill>
              </a:defRPr>
            </a:lvl8pPr>
            <a:lvl9pPr>
              <a:defRPr sz="1575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56"/>
                </a:solidFill>
              </a:defRPr>
            </a:pPr>
            <a:r>
              <a:rPr sz="1575" b="1">
                <a:solidFill>
                  <a:srgbClr val="102A56"/>
                </a:solidFill>
              </a:rPr>
              <a:t>Claims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10859-7D59-437B-85E1-86D23FD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08A"/>
                </a:solidFill>
              </a:defRPr>
            </a:defPPr>
            <a:lvl1pPr>
              <a:defRPr sz="1125" b="0">
                <a:solidFill>
                  <a:srgbClr val="62708A"/>
                </a:solidFill>
              </a:defRPr>
            </a:lvl1pPr>
            <a:lvl2pPr>
              <a:defRPr sz="1125" b="0">
                <a:solidFill>
                  <a:srgbClr val="62708A"/>
                </a:solidFill>
              </a:defRPr>
            </a:lvl2pPr>
            <a:lvl3pPr>
              <a:defRPr sz="1125" b="0">
                <a:solidFill>
                  <a:srgbClr val="62708A"/>
                </a:solidFill>
              </a:defRPr>
            </a:lvl3pPr>
            <a:lvl4pPr>
              <a:defRPr sz="1125" b="0">
                <a:solidFill>
                  <a:srgbClr val="62708A"/>
                </a:solidFill>
              </a:defRPr>
            </a:lvl4pPr>
            <a:lvl5pPr>
              <a:defRPr sz="1125" b="0">
                <a:solidFill>
                  <a:srgbClr val="62708A"/>
                </a:solidFill>
              </a:defRPr>
            </a:lvl5pPr>
            <a:lvl6pPr>
              <a:defRPr sz="1125" b="0">
                <a:solidFill>
                  <a:srgbClr val="62708A"/>
                </a:solidFill>
              </a:defRPr>
            </a:lvl6pPr>
            <a:lvl7pPr>
              <a:defRPr sz="1125" b="0">
                <a:solidFill>
                  <a:srgbClr val="62708A"/>
                </a:solidFill>
              </a:defRPr>
            </a:lvl7pPr>
            <a:lvl8pPr>
              <a:defRPr sz="1125" b="0">
                <a:solidFill>
                  <a:srgbClr val="62708A"/>
                </a:solidFill>
              </a:defRPr>
            </a:lvl8pPr>
            <a:lvl9pPr>
              <a:defRPr sz="112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08A"/>
                </a:solidFill>
              </a:defRPr>
            </a:pPr>
            <a:r>
              <a:rPr sz="1125" b="0">
                <a:solidFill>
                  <a:srgbClr val="62708A"/>
                </a:solidFill>
              </a:rPr>
              <a:t>Creates document checklists and a claim draft from policy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4032D-FAC9-4E06-A902-D5D1140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67125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F2BD7-3518-4A80-8DEB-3865F0B7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86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56"/>
                </a:solidFill>
              </a:defRPr>
            </a:defPPr>
            <a:lvl1pPr>
              <a:defRPr sz="1575" b="1">
                <a:solidFill>
                  <a:srgbClr val="102A56"/>
                </a:solidFill>
              </a:defRPr>
            </a:lvl1pPr>
            <a:lvl2pPr>
              <a:defRPr sz="1575" b="1">
                <a:solidFill>
                  <a:srgbClr val="102A56"/>
                </a:solidFill>
              </a:defRPr>
            </a:lvl2pPr>
            <a:lvl3pPr>
              <a:defRPr sz="1575" b="1">
                <a:solidFill>
                  <a:srgbClr val="102A56"/>
                </a:solidFill>
              </a:defRPr>
            </a:lvl3pPr>
            <a:lvl4pPr>
              <a:defRPr sz="1575" b="1">
                <a:solidFill>
                  <a:srgbClr val="102A56"/>
                </a:solidFill>
              </a:defRPr>
            </a:lvl4pPr>
            <a:lvl5pPr>
              <a:defRPr sz="1575" b="1">
                <a:solidFill>
                  <a:srgbClr val="102A56"/>
                </a:solidFill>
              </a:defRPr>
            </a:lvl5pPr>
            <a:lvl6pPr>
              <a:defRPr sz="1575" b="1">
                <a:solidFill>
                  <a:srgbClr val="102A56"/>
                </a:solidFill>
              </a:defRPr>
            </a:lvl6pPr>
            <a:lvl7pPr>
              <a:defRPr sz="1575" b="1">
                <a:solidFill>
                  <a:srgbClr val="102A56"/>
                </a:solidFill>
              </a:defRPr>
            </a:lvl7pPr>
            <a:lvl8pPr>
              <a:defRPr sz="1575" b="1">
                <a:solidFill>
                  <a:srgbClr val="102A56"/>
                </a:solidFill>
              </a:defRPr>
            </a:lvl8pPr>
            <a:lvl9pPr>
              <a:defRPr sz="1575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56"/>
                </a:solidFill>
              </a:defRPr>
            </a:pPr>
            <a:r>
              <a:rPr sz="1575" b="1">
                <a:solidFill>
                  <a:srgbClr val="102A56"/>
                </a:solidFill>
              </a:rPr>
              <a:t>Chat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75736-D4E3-4D7A-A01D-D99EDEA0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08A"/>
                </a:solidFill>
              </a:defRPr>
            </a:defPPr>
            <a:lvl1pPr>
              <a:defRPr sz="1125" b="0">
                <a:solidFill>
                  <a:srgbClr val="62708A"/>
                </a:solidFill>
              </a:defRPr>
            </a:lvl1pPr>
            <a:lvl2pPr>
              <a:defRPr sz="1125" b="0">
                <a:solidFill>
                  <a:srgbClr val="62708A"/>
                </a:solidFill>
              </a:defRPr>
            </a:lvl2pPr>
            <a:lvl3pPr>
              <a:defRPr sz="1125" b="0">
                <a:solidFill>
                  <a:srgbClr val="62708A"/>
                </a:solidFill>
              </a:defRPr>
            </a:lvl3pPr>
            <a:lvl4pPr>
              <a:defRPr sz="1125" b="0">
                <a:solidFill>
                  <a:srgbClr val="62708A"/>
                </a:solidFill>
              </a:defRPr>
            </a:lvl4pPr>
            <a:lvl5pPr>
              <a:defRPr sz="1125" b="0">
                <a:solidFill>
                  <a:srgbClr val="62708A"/>
                </a:solidFill>
              </a:defRPr>
            </a:lvl5pPr>
            <a:lvl6pPr>
              <a:defRPr sz="1125" b="0">
                <a:solidFill>
                  <a:srgbClr val="62708A"/>
                </a:solidFill>
              </a:defRPr>
            </a:lvl6pPr>
            <a:lvl7pPr>
              <a:defRPr sz="1125" b="0">
                <a:solidFill>
                  <a:srgbClr val="62708A"/>
                </a:solidFill>
              </a:defRPr>
            </a:lvl7pPr>
            <a:lvl8pPr>
              <a:defRPr sz="1125" b="0">
                <a:solidFill>
                  <a:srgbClr val="62708A"/>
                </a:solidFill>
              </a:defRPr>
            </a:lvl8pPr>
            <a:lvl9pPr>
              <a:defRPr sz="112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08A"/>
                </a:solidFill>
              </a:defRPr>
            </a:pPr>
            <a:r>
              <a:rPr sz="1125" b="0">
                <a:solidFill>
                  <a:srgbClr val="62708A"/>
                </a:solidFill>
              </a:rPr>
              <a:t>Keeps the selected policy available in a normal cubic conversation.</a:t>
            </a:r>
          </a:p>
        </p:txBody>
      </p:sp>
    </p:spTree>
    <p:extLst>
      <p:ext uri="{BB962C8B-B14F-4D97-AF65-F5344CB8AC3E}">
        <p14:creationId xmlns:p14="http://schemas.microsoft.com/office/powerpoint/2010/main" val="3385351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88C88-4E67-40AA-9D6D-A50F9768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04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6A997-6EE6-44DB-A935-D0C2B2EF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User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E671A-6A94-44F2-B3FA-B97B17CE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08A"/>
                </a:solidFill>
              </a:defRPr>
            </a:defPPr>
            <a:lvl1pPr>
              <a:defRPr sz="1275" b="0">
                <a:solidFill>
                  <a:srgbClr val="62708A"/>
                </a:solidFill>
              </a:defRPr>
            </a:lvl1pPr>
            <a:lvl2pPr>
              <a:defRPr sz="1275" b="0">
                <a:solidFill>
                  <a:srgbClr val="62708A"/>
                </a:solidFill>
              </a:defRPr>
            </a:lvl2pPr>
            <a:lvl3pPr>
              <a:defRPr sz="1275" b="0">
                <a:solidFill>
                  <a:srgbClr val="62708A"/>
                </a:solidFill>
              </a:defRPr>
            </a:lvl3pPr>
            <a:lvl4pPr>
              <a:defRPr sz="1275" b="0">
                <a:solidFill>
                  <a:srgbClr val="62708A"/>
                </a:solidFill>
              </a:defRPr>
            </a:lvl4pPr>
            <a:lvl5pPr>
              <a:defRPr sz="1275" b="0">
                <a:solidFill>
                  <a:srgbClr val="62708A"/>
                </a:solidFill>
              </a:defRPr>
            </a:lvl5pPr>
            <a:lvl6pPr>
              <a:defRPr sz="1275" b="0">
                <a:solidFill>
                  <a:srgbClr val="62708A"/>
                </a:solidFill>
              </a:defRPr>
            </a:lvl6pPr>
            <a:lvl7pPr>
              <a:defRPr sz="1275" b="0">
                <a:solidFill>
                  <a:srgbClr val="62708A"/>
                </a:solidFill>
              </a:defRPr>
            </a:lvl7pPr>
            <a:lvl8pPr>
              <a:defRPr sz="1275" b="0">
                <a:solidFill>
                  <a:srgbClr val="62708A"/>
                </a:solidFill>
              </a:defRPr>
            </a:lvl8pPr>
            <a:lvl9pPr>
              <a:defRPr sz="127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08A"/>
                </a:solidFill>
              </a:defRPr>
            </a:pPr>
            <a:r>
              <a:rPr sz="1275" b="0">
                <a:solidFill>
                  <a:srgbClr val="62708A"/>
                </a:solidFill>
              </a:rPr>
              <a:t>The Insurance workspace stays inside cubic.ai, then transfers policy context to the existing chat.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29639-B2C6-4735-BC7A-4B60E61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0B05-8333-4474-9FF1-0976064F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332A1-810D-43BF-89C2-5289CD3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48AE4-691D-4AD1-85C3-BC916788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003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FDBBA-C92A-417C-860B-14A1B1C9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20CA1-C0B9-4558-AFF5-C38CBF59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Upload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C40A4-ACA1-40B5-8703-024EB27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CC758-A28F-415B-935F-D20AC038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9C831-0507-479F-A0D8-33C9982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Review clauses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E3021-B823-4399-AFB3-2318FD6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8003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7F6D2-CDE8-40B9-B60A-F7774C0E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C9274-4824-429E-8B5D-4F73D993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Ask or analyse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0DEEA-F7BE-4CB0-A366-86C2A6C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03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A0BD5-A153-4D2F-A84D-D3AB775E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DD9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4E472-B250-48A0-8ED7-442D497E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Continue in chat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943E1-1837-4129-9709-4A7E252D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708A"/>
                </a:solidFill>
              </a:defRPr>
            </a:defPPr>
            <a:lvl1pPr>
              <a:defRPr sz="1350" b="0">
                <a:solidFill>
                  <a:srgbClr val="62708A"/>
                </a:solidFill>
              </a:defRPr>
            </a:lvl1pPr>
            <a:lvl2pPr>
              <a:defRPr sz="1350" b="0">
                <a:solidFill>
                  <a:srgbClr val="62708A"/>
                </a:solidFill>
              </a:defRPr>
            </a:lvl2pPr>
            <a:lvl3pPr>
              <a:defRPr sz="1350" b="0">
                <a:solidFill>
                  <a:srgbClr val="62708A"/>
                </a:solidFill>
              </a:defRPr>
            </a:lvl3pPr>
            <a:lvl4pPr>
              <a:defRPr sz="1350" b="0">
                <a:solidFill>
                  <a:srgbClr val="62708A"/>
                </a:solidFill>
              </a:defRPr>
            </a:lvl4pPr>
            <a:lvl5pPr>
              <a:defRPr sz="1350" b="0">
                <a:solidFill>
                  <a:srgbClr val="62708A"/>
                </a:solidFill>
              </a:defRPr>
            </a:lvl5pPr>
            <a:lvl6pPr>
              <a:defRPr sz="1350" b="0">
                <a:solidFill>
                  <a:srgbClr val="62708A"/>
                </a:solidFill>
              </a:defRPr>
            </a:lvl6pPr>
            <a:lvl7pPr>
              <a:defRPr sz="1350" b="0">
                <a:solidFill>
                  <a:srgbClr val="62708A"/>
                </a:solidFill>
              </a:defRPr>
            </a:lvl7pPr>
            <a:lvl8pPr>
              <a:defRPr sz="1350" b="0">
                <a:solidFill>
                  <a:srgbClr val="62708A"/>
                </a:solidFill>
              </a:defRPr>
            </a:lvl8pPr>
            <a:lvl9pPr>
              <a:defRPr sz="1350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08A"/>
                </a:solidFill>
              </a:defRPr>
            </a:pPr>
            <a:r>
              <a:rPr sz="1350" b="0">
                <a:solidFill>
                  <a:srgbClr val="62708A"/>
                </a:solidFill>
              </a:rPr>
              <a:t>Claim drafts and sandbox submissions remain in the Insurance workspace.</a:t>
            </a:r>
          </a:p>
        </p:txBody>
      </p:sp>
    </p:spTree>
    <p:extLst>
      <p:ext uri="{BB962C8B-B14F-4D97-AF65-F5344CB8AC3E}">
        <p14:creationId xmlns:p14="http://schemas.microsoft.com/office/powerpoint/2010/main" val="687035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8F8EC-7CCC-40F4-BAAF-43395BC8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05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2FDB1-5D19-48CD-97C3-C6CC874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B997C-B6A5-4817-AB88-FF0878A7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08A"/>
                </a:solidFill>
              </a:defRPr>
            </a:defPPr>
            <a:lvl1pPr>
              <a:defRPr sz="1275" b="0">
                <a:solidFill>
                  <a:srgbClr val="62708A"/>
                </a:solidFill>
              </a:defRPr>
            </a:lvl1pPr>
            <a:lvl2pPr>
              <a:defRPr sz="1275" b="0">
                <a:solidFill>
                  <a:srgbClr val="62708A"/>
                </a:solidFill>
              </a:defRPr>
            </a:lvl2pPr>
            <a:lvl3pPr>
              <a:defRPr sz="1275" b="0">
                <a:solidFill>
                  <a:srgbClr val="62708A"/>
                </a:solidFill>
              </a:defRPr>
            </a:lvl3pPr>
            <a:lvl4pPr>
              <a:defRPr sz="1275" b="0">
                <a:solidFill>
                  <a:srgbClr val="62708A"/>
                </a:solidFill>
              </a:defRPr>
            </a:lvl4pPr>
            <a:lvl5pPr>
              <a:defRPr sz="1275" b="0">
                <a:solidFill>
                  <a:srgbClr val="62708A"/>
                </a:solidFill>
              </a:defRPr>
            </a:lvl5pPr>
            <a:lvl6pPr>
              <a:defRPr sz="1275" b="0">
                <a:solidFill>
                  <a:srgbClr val="62708A"/>
                </a:solidFill>
              </a:defRPr>
            </a:lvl6pPr>
            <a:lvl7pPr>
              <a:defRPr sz="1275" b="0">
                <a:solidFill>
                  <a:srgbClr val="62708A"/>
                </a:solidFill>
              </a:defRPr>
            </a:lvl7pPr>
            <a:lvl8pPr>
              <a:defRPr sz="1275" b="0">
                <a:solidFill>
                  <a:srgbClr val="62708A"/>
                </a:solidFill>
              </a:defRPr>
            </a:lvl8pPr>
            <a:lvl9pPr>
              <a:defRPr sz="127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08A"/>
                </a:solidFill>
              </a:defRPr>
            </a:pPr>
            <a:r>
              <a:rPr sz="1275" b="0">
                <a:solidFill>
                  <a:srgbClr val="62708A"/>
                </a:solidFill>
              </a:rPr>
              <a:t>The standard cubic.ai chat and the insurance agent share the same authenticated local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F2624-BA61-4A32-835A-81D60842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453C4-4303-4819-B710-E0988F90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68E8C-D1A9-4DC5-B9ED-AB81F32E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58B7C-2AD2-4D49-8BC1-B99E5AE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98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1A335-3045-43F8-BE28-9D97B8D7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EEEAA-2425-450C-BCFD-ED580F3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9C1B7-88B9-4E2B-8109-F6B6F080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098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48747-DD65-4876-93B2-57610BDD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25DCF-64BF-4EB1-8999-DE47FDF1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Insurance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40BD7-9D4D-4090-97B6-FF8EFFE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098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68F71-574F-4FE1-AEF7-E242F144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B9916-5D20-4885-885D-57BFE9B8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Policy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91427-E73B-4984-AAA2-123AF2E1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098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6E0C8-10BA-4905-9279-17D5AF29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DD9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295CF-018E-4232-9316-14730898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Policy 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64150-8E17-4F13-9B04-EB9727EB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708A"/>
                </a:solidFill>
              </a:defRPr>
            </a:defPPr>
            <a:lvl1pPr>
              <a:defRPr sz="1350" b="0">
                <a:solidFill>
                  <a:srgbClr val="62708A"/>
                </a:solidFill>
              </a:defRPr>
            </a:lvl1pPr>
            <a:lvl2pPr>
              <a:defRPr sz="1350" b="0">
                <a:solidFill>
                  <a:srgbClr val="62708A"/>
                </a:solidFill>
              </a:defRPr>
            </a:lvl2pPr>
            <a:lvl3pPr>
              <a:defRPr sz="1350" b="0">
                <a:solidFill>
                  <a:srgbClr val="62708A"/>
                </a:solidFill>
              </a:defRPr>
            </a:lvl3pPr>
            <a:lvl4pPr>
              <a:defRPr sz="1350" b="0">
                <a:solidFill>
                  <a:srgbClr val="62708A"/>
                </a:solidFill>
              </a:defRPr>
            </a:lvl4pPr>
            <a:lvl5pPr>
              <a:defRPr sz="1350" b="0">
                <a:solidFill>
                  <a:srgbClr val="62708A"/>
                </a:solidFill>
              </a:defRPr>
            </a:lvl5pPr>
            <a:lvl6pPr>
              <a:defRPr sz="1350" b="0">
                <a:solidFill>
                  <a:srgbClr val="62708A"/>
                </a:solidFill>
              </a:defRPr>
            </a:lvl6pPr>
            <a:lvl7pPr>
              <a:defRPr sz="1350" b="0">
                <a:solidFill>
                  <a:srgbClr val="62708A"/>
                </a:solidFill>
              </a:defRPr>
            </a:lvl7pPr>
            <a:lvl8pPr>
              <a:defRPr sz="1350" b="0">
                <a:solidFill>
                  <a:srgbClr val="62708A"/>
                </a:solidFill>
              </a:defRPr>
            </a:lvl8pPr>
            <a:lvl9pPr>
              <a:defRPr sz="1350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08A"/>
                </a:solidFill>
              </a:defRPr>
            </a:pPr>
            <a:r>
              <a:rPr sz="1350" b="0">
                <a:solidFill>
                  <a:srgbClr val="62708A"/>
                </a:solidFill>
              </a:rPr>
              <a:t>Ollama is optional and runs locally. Citation and permission checks remain in the application layer.</a:t>
            </a:r>
          </a:p>
        </p:txBody>
      </p:sp>
    </p:spTree>
    <p:extLst>
      <p:ext uri="{BB962C8B-B14F-4D97-AF65-F5344CB8AC3E}">
        <p14:creationId xmlns:p14="http://schemas.microsoft.com/office/powerpoint/2010/main" val="15457832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F59C6-C5E5-4805-8E83-7499B205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06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22BC8-FB7B-4828-88D9-F447D5E7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Policy evidence and answer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0FA32-BC77-4F97-A49E-5D774AC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C1FBE-DF67-46A3-9E0C-01D489AE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3BC40-7316-4604-8935-5F49DF48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 PDF becomes labelled clauses with an identifier, page, title and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EA30D-9E06-44FC-95B7-162A02E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263E5-27F9-4A77-9640-C371B9D0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BM25 searches only the policy selected by the signed-in user.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4BAB0-ED0C-493D-BAD8-17546546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A5F45-3D46-481D-BA7C-D99BE037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Low confidence retrieval produces an abstention instead of a made-up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A6837-0297-48F8-AFDA-CBF8960A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5C7CC-CEF6-416C-A48E-E3FDCE8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Optional model output must cite retrieved clauses and may not invent numbers.</a:t>
            </a:r>
          </a:p>
        </p:txBody>
      </p:sp>
    </p:spTree>
    <p:extLst>
      <p:ext uri="{BB962C8B-B14F-4D97-AF65-F5344CB8AC3E}">
        <p14:creationId xmlns:p14="http://schemas.microsoft.com/office/powerpoint/2010/main" val="7178444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FABD9-A9FD-475A-AD1D-99DB7505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07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71523-9973-4D51-805E-459F109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Coverage-gap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232C9-5AD4-4226-8A5E-35610760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08A"/>
                </a:solidFill>
              </a:defRPr>
            </a:defPPr>
            <a:lvl1pPr>
              <a:defRPr sz="1275" b="0">
                <a:solidFill>
                  <a:srgbClr val="62708A"/>
                </a:solidFill>
              </a:defRPr>
            </a:lvl1pPr>
            <a:lvl2pPr>
              <a:defRPr sz="1275" b="0">
                <a:solidFill>
                  <a:srgbClr val="62708A"/>
                </a:solidFill>
              </a:defRPr>
            </a:lvl2pPr>
            <a:lvl3pPr>
              <a:defRPr sz="1275" b="0">
                <a:solidFill>
                  <a:srgbClr val="62708A"/>
                </a:solidFill>
              </a:defRPr>
            </a:lvl3pPr>
            <a:lvl4pPr>
              <a:defRPr sz="1275" b="0">
                <a:solidFill>
                  <a:srgbClr val="62708A"/>
                </a:solidFill>
              </a:defRPr>
            </a:lvl4pPr>
            <a:lvl5pPr>
              <a:defRPr sz="1275" b="0">
                <a:solidFill>
                  <a:srgbClr val="62708A"/>
                </a:solidFill>
              </a:defRPr>
            </a:lvl5pPr>
            <a:lvl6pPr>
              <a:defRPr sz="1275" b="0">
                <a:solidFill>
                  <a:srgbClr val="62708A"/>
                </a:solidFill>
              </a:defRPr>
            </a:lvl6pPr>
            <a:lvl7pPr>
              <a:defRPr sz="1275" b="0">
                <a:solidFill>
                  <a:srgbClr val="62708A"/>
                </a:solidFill>
              </a:defRPr>
            </a:lvl7pPr>
            <a:lvl8pPr>
              <a:defRPr sz="1275" b="0">
                <a:solidFill>
                  <a:srgbClr val="62708A"/>
                </a:solidFill>
              </a:defRPr>
            </a:lvl8pPr>
            <a:lvl9pPr>
              <a:defRPr sz="127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08A"/>
                </a:solidFill>
              </a:defRPr>
            </a:pPr>
            <a:r>
              <a:rPr sz="1275" b="0">
                <a:solidFill>
                  <a:srgbClr val="62708A"/>
                </a:solidFill>
              </a:rPr>
              <a:t>Coverage and exclusions are evaluated separately so a possible exclusion stays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C3E20-6786-4295-91FD-8F7C47FA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25ED1-AD0B-402C-A372-719D41C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A3841-260C-4134-9394-7743A55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57A7"/>
                </a:solidFill>
              </a:defRPr>
            </a:defPPr>
            <a:lvl1pPr>
              <a:defRPr sz="1125" b="1">
                <a:solidFill>
                  <a:srgbClr val="2457A7"/>
                </a:solidFill>
              </a:defRPr>
            </a:lvl1pPr>
            <a:lvl2pPr>
              <a:defRPr sz="1125" b="1">
                <a:solidFill>
                  <a:srgbClr val="2457A7"/>
                </a:solidFill>
              </a:defRPr>
            </a:lvl2pPr>
            <a:lvl3pPr>
              <a:defRPr sz="1125" b="1">
                <a:solidFill>
                  <a:srgbClr val="2457A7"/>
                </a:solidFill>
              </a:defRPr>
            </a:lvl3pPr>
            <a:lvl4pPr>
              <a:defRPr sz="1125" b="1">
                <a:solidFill>
                  <a:srgbClr val="2457A7"/>
                </a:solidFill>
              </a:defRPr>
            </a:lvl4pPr>
            <a:lvl5pPr>
              <a:defRPr sz="1125" b="1">
                <a:solidFill>
                  <a:srgbClr val="2457A7"/>
                </a:solidFill>
              </a:defRPr>
            </a:lvl5pPr>
            <a:lvl6pPr>
              <a:defRPr sz="1125" b="1">
                <a:solidFill>
                  <a:srgbClr val="2457A7"/>
                </a:solidFill>
              </a:defRPr>
            </a:lvl6pPr>
            <a:lvl7pPr>
              <a:defRPr sz="1125" b="1">
                <a:solidFill>
                  <a:srgbClr val="2457A7"/>
                </a:solidFill>
              </a:defRPr>
            </a:lvl7pPr>
            <a:lvl8pPr>
              <a:defRPr sz="1125" b="1">
                <a:solidFill>
                  <a:srgbClr val="2457A7"/>
                </a:solidFill>
              </a:defRPr>
            </a:lvl8pPr>
            <a:lvl9pPr>
              <a:defRPr sz="11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57A7"/>
                </a:solidFill>
              </a:defRPr>
            </a:pPr>
            <a:r>
              <a:rPr sz="1125" b="1">
                <a:solidFill>
                  <a:srgbClr val="2457A7"/>
                </a:solidFill>
              </a:rPr>
              <a:t>Situation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F224F-E5AA-4124-A6C3-EB444D05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56"/>
                </a:solidFill>
              </a:defRPr>
            </a:defPPr>
            <a:lvl1pPr>
              <a:defRPr sz="1800" b="1">
                <a:solidFill>
                  <a:srgbClr val="102A56"/>
                </a:solidFill>
              </a:defRPr>
            </a:lvl1pPr>
            <a:lvl2pPr>
              <a:defRPr sz="1800" b="1">
                <a:solidFill>
                  <a:srgbClr val="102A56"/>
                </a:solidFill>
              </a:defRPr>
            </a:lvl2pPr>
            <a:lvl3pPr>
              <a:defRPr sz="1800" b="1">
                <a:solidFill>
                  <a:srgbClr val="102A56"/>
                </a:solidFill>
              </a:defRPr>
            </a:lvl3pPr>
            <a:lvl4pPr>
              <a:defRPr sz="1800" b="1">
                <a:solidFill>
                  <a:srgbClr val="102A56"/>
                </a:solidFill>
              </a:defRPr>
            </a:lvl4pPr>
            <a:lvl5pPr>
              <a:defRPr sz="1800" b="1">
                <a:solidFill>
                  <a:srgbClr val="102A56"/>
                </a:solidFill>
              </a:defRPr>
            </a:lvl5pPr>
            <a:lvl6pPr>
              <a:defRPr sz="1800" b="1">
                <a:solidFill>
                  <a:srgbClr val="102A56"/>
                </a:solidFill>
              </a:defRPr>
            </a:lvl6pPr>
            <a:lvl7pPr>
              <a:defRPr sz="1800" b="1">
                <a:solidFill>
                  <a:srgbClr val="102A56"/>
                </a:solidFill>
              </a:defRPr>
            </a:lvl7pPr>
            <a:lvl8pPr>
              <a:defRPr sz="1800" b="1">
                <a:solidFill>
                  <a:srgbClr val="102A56"/>
                </a:solidFill>
              </a:defRPr>
            </a:lvl8pPr>
            <a:lvl9pPr>
              <a:defRPr sz="18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56"/>
                </a:solidFill>
              </a:defRPr>
            </a:pPr>
            <a:r>
              <a:rPr sz="1800" b="1">
                <a:solidFill>
                  <a:srgbClr val="102A56"/>
                </a:solidFill>
              </a:rPr>
              <a:t>Emergency hospital admission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C539F-5E8C-42BC-A8C2-8FCEC5E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8BBF8-40EE-474F-99CC-AD78E2F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57A7"/>
                </a:solidFill>
              </a:defRPr>
            </a:defPPr>
            <a:lvl1pPr>
              <a:defRPr sz="1125" b="1">
                <a:solidFill>
                  <a:srgbClr val="2457A7"/>
                </a:solidFill>
              </a:defRPr>
            </a:lvl1pPr>
            <a:lvl2pPr>
              <a:defRPr sz="1125" b="1">
                <a:solidFill>
                  <a:srgbClr val="2457A7"/>
                </a:solidFill>
              </a:defRPr>
            </a:lvl2pPr>
            <a:lvl3pPr>
              <a:defRPr sz="1125" b="1">
                <a:solidFill>
                  <a:srgbClr val="2457A7"/>
                </a:solidFill>
              </a:defRPr>
            </a:lvl3pPr>
            <a:lvl4pPr>
              <a:defRPr sz="1125" b="1">
                <a:solidFill>
                  <a:srgbClr val="2457A7"/>
                </a:solidFill>
              </a:defRPr>
            </a:lvl4pPr>
            <a:lvl5pPr>
              <a:defRPr sz="1125" b="1">
                <a:solidFill>
                  <a:srgbClr val="2457A7"/>
                </a:solidFill>
              </a:defRPr>
            </a:lvl5pPr>
            <a:lvl6pPr>
              <a:defRPr sz="1125" b="1">
                <a:solidFill>
                  <a:srgbClr val="2457A7"/>
                </a:solidFill>
              </a:defRPr>
            </a:lvl6pPr>
            <a:lvl7pPr>
              <a:defRPr sz="1125" b="1">
                <a:solidFill>
                  <a:srgbClr val="2457A7"/>
                </a:solidFill>
              </a:defRPr>
            </a:lvl7pPr>
            <a:lvl8pPr>
              <a:defRPr sz="1125" b="1">
                <a:solidFill>
                  <a:srgbClr val="2457A7"/>
                </a:solidFill>
              </a:defRPr>
            </a:lvl8pPr>
            <a:lvl9pPr>
              <a:defRPr sz="11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57A7"/>
                </a:solidFill>
              </a:defRPr>
            </a:pPr>
            <a:r>
              <a:rPr sz="1125" b="1">
                <a:solidFill>
                  <a:srgbClr val="2457A7"/>
                </a:solidFill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37DB3-47C1-4F00-BA5C-CF749FF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56"/>
                </a:solidFill>
              </a:defRPr>
            </a:defPPr>
            <a:lvl1pPr>
              <a:defRPr sz="1800" b="1">
                <a:solidFill>
                  <a:srgbClr val="102A56"/>
                </a:solidFill>
              </a:defRPr>
            </a:lvl1pPr>
            <a:lvl2pPr>
              <a:defRPr sz="1800" b="1">
                <a:solidFill>
                  <a:srgbClr val="102A56"/>
                </a:solidFill>
              </a:defRPr>
            </a:lvl2pPr>
            <a:lvl3pPr>
              <a:defRPr sz="1800" b="1">
                <a:solidFill>
                  <a:srgbClr val="102A56"/>
                </a:solidFill>
              </a:defRPr>
            </a:lvl3pPr>
            <a:lvl4pPr>
              <a:defRPr sz="1800" b="1">
                <a:solidFill>
                  <a:srgbClr val="102A56"/>
                </a:solidFill>
              </a:defRPr>
            </a:lvl4pPr>
            <a:lvl5pPr>
              <a:defRPr sz="1800" b="1">
                <a:solidFill>
                  <a:srgbClr val="102A56"/>
                </a:solidFill>
              </a:defRPr>
            </a:lvl5pPr>
            <a:lvl6pPr>
              <a:defRPr sz="1800" b="1">
                <a:solidFill>
                  <a:srgbClr val="102A56"/>
                </a:solidFill>
              </a:defRPr>
            </a:lvl6pPr>
            <a:lvl7pPr>
              <a:defRPr sz="1800" b="1">
                <a:solidFill>
                  <a:srgbClr val="102A56"/>
                </a:solidFill>
              </a:defRPr>
            </a:lvl7pPr>
            <a:lvl8pPr>
              <a:defRPr sz="1800" b="1">
                <a:solidFill>
                  <a:srgbClr val="102A56"/>
                </a:solidFill>
              </a:defRPr>
            </a:lvl8pPr>
            <a:lvl9pPr>
              <a:defRPr sz="18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56"/>
                </a:solidFill>
              </a:defRPr>
            </a:pPr>
            <a:r>
              <a:rPr sz="1800" b="1">
                <a:solidFill>
                  <a:srgbClr val="102A56"/>
                </a:solidFill>
              </a:rPr>
              <a:t>Covered, excluded or unclear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44C5D-82DA-43A0-BCAB-B33405EC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DEDD9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A803D-30F3-4782-8285-6CA3ABA3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457A7"/>
                </a:solidFill>
              </a:defRPr>
            </a:defPPr>
            <a:lvl1pPr>
              <a:defRPr sz="1125" b="1">
                <a:solidFill>
                  <a:srgbClr val="2457A7"/>
                </a:solidFill>
              </a:defRPr>
            </a:lvl1pPr>
            <a:lvl2pPr>
              <a:defRPr sz="1125" b="1">
                <a:solidFill>
                  <a:srgbClr val="2457A7"/>
                </a:solidFill>
              </a:defRPr>
            </a:lvl2pPr>
            <a:lvl3pPr>
              <a:defRPr sz="1125" b="1">
                <a:solidFill>
                  <a:srgbClr val="2457A7"/>
                </a:solidFill>
              </a:defRPr>
            </a:lvl3pPr>
            <a:lvl4pPr>
              <a:defRPr sz="1125" b="1">
                <a:solidFill>
                  <a:srgbClr val="2457A7"/>
                </a:solidFill>
              </a:defRPr>
            </a:lvl4pPr>
            <a:lvl5pPr>
              <a:defRPr sz="1125" b="1">
                <a:solidFill>
                  <a:srgbClr val="2457A7"/>
                </a:solidFill>
              </a:defRPr>
            </a:lvl5pPr>
            <a:lvl6pPr>
              <a:defRPr sz="1125" b="1">
                <a:solidFill>
                  <a:srgbClr val="2457A7"/>
                </a:solidFill>
              </a:defRPr>
            </a:lvl6pPr>
            <a:lvl7pPr>
              <a:defRPr sz="1125" b="1">
                <a:solidFill>
                  <a:srgbClr val="2457A7"/>
                </a:solidFill>
              </a:defRPr>
            </a:lvl7pPr>
            <a:lvl8pPr>
              <a:defRPr sz="1125" b="1">
                <a:solidFill>
                  <a:srgbClr val="2457A7"/>
                </a:solidFill>
              </a:defRPr>
            </a:lvl8pPr>
            <a:lvl9pPr>
              <a:defRPr sz="11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57A7"/>
                </a:solidFill>
              </a:defRPr>
            </a:pPr>
            <a:r>
              <a:rPr sz="1125" b="1">
                <a:solidFill>
                  <a:srgbClr val="2457A7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E8969-9435-4282-8A1F-9EFDB161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56"/>
                </a:solidFill>
              </a:defRPr>
            </a:defPPr>
            <a:lvl1pPr>
              <a:defRPr sz="1800" b="1">
                <a:solidFill>
                  <a:srgbClr val="102A56"/>
                </a:solidFill>
              </a:defRPr>
            </a:lvl1pPr>
            <a:lvl2pPr>
              <a:defRPr sz="1800" b="1">
                <a:solidFill>
                  <a:srgbClr val="102A56"/>
                </a:solidFill>
              </a:defRPr>
            </a:lvl2pPr>
            <a:lvl3pPr>
              <a:defRPr sz="1800" b="1">
                <a:solidFill>
                  <a:srgbClr val="102A56"/>
                </a:solidFill>
              </a:defRPr>
            </a:lvl3pPr>
            <a:lvl4pPr>
              <a:defRPr sz="1800" b="1">
                <a:solidFill>
                  <a:srgbClr val="102A56"/>
                </a:solidFill>
              </a:defRPr>
            </a:lvl4pPr>
            <a:lvl5pPr>
              <a:defRPr sz="1800" b="1">
                <a:solidFill>
                  <a:srgbClr val="102A56"/>
                </a:solidFill>
              </a:defRPr>
            </a:lvl5pPr>
            <a:lvl6pPr>
              <a:defRPr sz="1800" b="1">
                <a:solidFill>
                  <a:srgbClr val="102A56"/>
                </a:solidFill>
              </a:defRPr>
            </a:lvl6pPr>
            <a:lvl7pPr>
              <a:defRPr sz="1800" b="1">
                <a:solidFill>
                  <a:srgbClr val="102A56"/>
                </a:solidFill>
              </a:defRPr>
            </a:lvl7pPr>
            <a:lvl8pPr>
              <a:defRPr sz="1800" b="1">
                <a:solidFill>
                  <a:srgbClr val="102A56"/>
                </a:solidFill>
              </a:defRPr>
            </a:lvl8pPr>
            <a:lvl9pPr>
              <a:defRPr sz="18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56"/>
                </a:solidFill>
              </a:defRPr>
            </a:pPr>
            <a:r>
              <a:rPr sz="1800" b="1">
                <a:solidFill>
                  <a:srgbClr val="102A56"/>
                </a:solidFill>
              </a:rPr>
              <a:t>Clause citations and 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38C68-2217-4640-93D8-C627ED92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08A"/>
                </a:solidFill>
              </a:defRPr>
            </a:defPPr>
            <a:lvl1pPr>
              <a:defRPr sz="1275" b="0">
                <a:solidFill>
                  <a:srgbClr val="62708A"/>
                </a:solidFill>
              </a:defRPr>
            </a:lvl1pPr>
            <a:lvl2pPr>
              <a:defRPr sz="1275" b="0">
                <a:solidFill>
                  <a:srgbClr val="62708A"/>
                </a:solidFill>
              </a:defRPr>
            </a:lvl2pPr>
            <a:lvl3pPr>
              <a:defRPr sz="1275" b="0">
                <a:solidFill>
                  <a:srgbClr val="62708A"/>
                </a:solidFill>
              </a:defRPr>
            </a:lvl3pPr>
            <a:lvl4pPr>
              <a:defRPr sz="1275" b="0">
                <a:solidFill>
                  <a:srgbClr val="62708A"/>
                </a:solidFill>
              </a:defRPr>
            </a:lvl4pPr>
            <a:lvl5pPr>
              <a:defRPr sz="1275" b="0">
                <a:solidFill>
                  <a:srgbClr val="62708A"/>
                </a:solidFill>
              </a:defRPr>
            </a:lvl5pPr>
            <a:lvl6pPr>
              <a:defRPr sz="1275" b="0">
                <a:solidFill>
                  <a:srgbClr val="62708A"/>
                </a:solidFill>
              </a:defRPr>
            </a:lvl6pPr>
            <a:lvl7pPr>
              <a:defRPr sz="1275" b="0">
                <a:solidFill>
                  <a:srgbClr val="62708A"/>
                </a:solidFill>
              </a:defRPr>
            </a:lvl7pPr>
            <a:lvl8pPr>
              <a:defRPr sz="1275" b="0">
                <a:solidFill>
                  <a:srgbClr val="62708A"/>
                </a:solidFill>
              </a:defRPr>
            </a:lvl8pPr>
            <a:lvl9pPr>
              <a:defRPr sz="1275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08A"/>
                </a:solidFill>
              </a:defRPr>
            </a:pPr>
            <a:r>
              <a:rPr sz="1275" b="0">
                <a:solidFill>
                  <a:srgbClr val="62708A"/>
                </a:solidFill>
              </a:rPr>
              <a:t>A covered result can still include conditions or a possible exclusion warning.</a:t>
            </a:r>
          </a:p>
        </p:txBody>
      </p:sp>
    </p:spTree>
    <p:extLst>
      <p:ext uri="{BB962C8B-B14F-4D97-AF65-F5344CB8AC3E}">
        <p14:creationId xmlns:p14="http://schemas.microsoft.com/office/powerpoint/2010/main" val="20110108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F3503-4865-4D1A-9A16-13D93FA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08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6551-A4ED-49BE-B100-1D244B3E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Claims guidance and safe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46FC0-2EAD-45A4-8D8B-90BB11D1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AAEA8-F26C-459B-84E9-5260A243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09347-7AF3-409F-9053-046F0524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Checklist from claim clauses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D6F88-1CA9-4A58-99D5-FB9CA455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0510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29776-7F41-43BA-B817-FE526EC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ECE26-C111-494D-BF7C-A99378FA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Draft with missing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ABFE0-3783-407E-BD59-1852524E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0510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EF8FF-6A6D-4F63-8706-DF12544D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E0D9C-1A95-450D-A9A4-21F6DD07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Temporary sandbox permission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F76C7-B3E0-4EEE-9BC6-24F3E8D1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0510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D55F3-E233-4D6B-BC7F-52F24181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0D7EB-045E-40A4-92EC-F3608332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Explicit confirmation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BD42F-F1B8-4D89-AF5D-FC86C92B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0510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7A7"/>
                </a:solidFill>
              </a:defRPr>
            </a:defPPr>
            <a:lvl1pPr>
              <a:defRPr sz="2175" b="1">
                <a:solidFill>
                  <a:srgbClr val="2457A7"/>
                </a:solidFill>
              </a:defRPr>
            </a:lvl1pPr>
            <a:lvl2pPr>
              <a:defRPr sz="2175" b="1">
                <a:solidFill>
                  <a:srgbClr val="2457A7"/>
                </a:solidFill>
              </a:defRPr>
            </a:lvl2pPr>
            <a:lvl3pPr>
              <a:defRPr sz="2175" b="1">
                <a:solidFill>
                  <a:srgbClr val="2457A7"/>
                </a:solidFill>
              </a:defRPr>
            </a:lvl3pPr>
            <a:lvl4pPr>
              <a:defRPr sz="2175" b="1">
                <a:solidFill>
                  <a:srgbClr val="2457A7"/>
                </a:solidFill>
              </a:defRPr>
            </a:lvl4pPr>
            <a:lvl5pPr>
              <a:defRPr sz="2175" b="1">
                <a:solidFill>
                  <a:srgbClr val="2457A7"/>
                </a:solidFill>
              </a:defRPr>
            </a:lvl5pPr>
            <a:lvl6pPr>
              <a:defRPr sz="2175" b="1">
                <a:solidFill>
                  <a:srgbClr val="2457A7"/>
                </a:solidFill>
              </a:defRPr>
            </a:lvl6pPr>
            <a:lvl7pPr>
              <a:defRPr sz="2175" b="1">
                <a:solidFill>
                  <a:srgbClr val="2457A7"/>
                </a:solidFill>
              </a:defRPr>
            </a:lvl7pPr>
            <a:lvl8pPr>
              <a:defRPr sz="2175" b="1">
                <a:solidFill>
                  <a:srgbClr val="2457A7"/>
                </a:solidFill>
              </a:defRPr>
            </a:lvl8pPr>
            <a:lvl9pPr>
              <a:defRPr sz="217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7A7"/>
                </a:solidFill>
              </a:defRPr>
            </a:pPr>
            <a:r>
              <a:rPr sz="2175" b="1">
                <a:solidFill>
                  <a:srgbClr val="2457A7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3DFDD-907B-4BFF-99E9-8A776119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DD9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EB1E2-2D01-474E-85CE-136376A8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56"/>
                </a:solidFill>
              </a:defRPr>
            </a:defPPr>
            <a:lvl1pPr>
              <a:defRPr sz="1200" b="1">
                <a:solidFill>
                  <a:srgbClr val="102A56"/>
                </a:solidFill>
              </a:defRPr>
            </a:lvl1pPr>
            <a:lvl2pPr>
              <a:defRPr sz="1200" b="1">
                <a:solidFill>
                  <a:srgbClr val="102A56"/>
                </a:solidFill>
              </a:defRPr>
            </a:lvl2pPr>
            <a:lvl3pPr>
              <a:defRPr sz="1200" b="1">
                <a:solidFill>
                  <a:srgbClr val="102A56"/>
                </a:solidFill>
              </a:defRPr>
            </a:lvl3pPr>
            <a:lvl4pPr>
              <a:defRPr sz="1200" b="1">
                <a:solidFill>
                  <a:srgbClr val="102A56"/>
                </a:solidFill>
              </a:defRPr>
            </a:lvl4pPr>
            <a:lvl5pPr>
              <a:defRPr sz="1200" b="1">
                <a:solidFill>
                  <a:srgbClr val="102A56"/>
                </a:solidFill>
              </a:defRPr>
            </a:lvl5pPr>
            <a:lvl6pPr>
              <a:defRPr sz="1200" b="1">
                <a:solidFill>
                  <a:srgbClr val="102A56"/>
                </a:solidFill>
              </a:defRPr>
            </a:lvl6pPr>
            <a:lvl7pPr>
              <a:defRPr sz="1200" b="1">
                <a:solidFill>
                  <a:srgbClr val="102A56"/>
                </a:solidFill>
              </a:defRPr>
            </a:lvl7pPr>
            <a:lvl8pPr>
              <a:defRPr sz="1200" b="1">
                <a:solidFill>
                  <a:srgbClr val="102A56"/>
                </a:solidFill>
              </a:defRPr>
            </a:lvl8pPr>
            <a:lvl9pPr>
              <a:defRPr sz="120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Mock insurer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DD95E-58C1-4726-B3CC-F14CDC3B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708A"/>
                </a:solidFill>
              </a:defRPr>
            </a:defPPr>
            <a:lvl1pPr>
              <a:defRPr sz="1350" b="0">
                <a:solidFill>
                  <a:srgbClr val="62708A"/>
                </a:solidFill>
              </a:defRPr>
            </a:lvl1pPr>
            <a:lvl2pPr>
              <a:defRPr sz="1350" b="0">
                <a:solidFill>
                  <a:srgbClr val="62708A"/>
                </a:solidFill>
              </a:defRPr>
            </a:lvl2pPr>
            <a:lvl3pPr>
              <a:defRPr sz="1350" b="0">
                <a:solidFill>
                  <a:srgbClr val="62708A"/>
                </a:solidFill>
              </a:defRPr>
            </a:lvl3pPr>
            <a:lvl4pPr>
              <a:defRPr sz="1350" b="0">
                <a:solidFill>
                  <a:srgbClr val="62708A"/>
                </a:solidFill>
              </a:defRPr>
            </a:lvl4pPr>
            <a:lvl5pPr>
              <a:defRPr sz="1350" b="0">
                <a:solidFill>
                  <a:srgbClr val="62708A"/>
                </a:solidFill>
              </a:defRPr>
            </a:lvl5pPr>
            <a:lvl6pPr>
              <a:defRPr sz="1350" b="0">
                <a:solidFill>
                  <a:srgbClr val="62708A"/>
                </a:solidFill>
              </a:defRPr>
            </a:lvl6pPr>
            <a:lvl7pPr>
              <a:defRPr sz="1350" b="0">
                <a:solidFill>
                  <a:srgbClr val="62708A"/>
                </a:solidFill>
              </a:defRPr>
            </a:lvl7pPr>
            <a:lvl8pPr>
              <a:defRPr sz="1350" b="0">
                <a:solidFill>
                  <a:srgbClr val="62708A"/>
                </a:solidFill>
              </a:defRPr>
            </a:lvl8pPr>
            <a:lvl9pPr>
              <a:defRPr sz="1350" b="0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08A"/>
                </a:solidFill>
              </a:defRPr>
            </a:pPr>
            <a:r>
              <a:rPr sz="1350" b="0">
                <a:solidFill>
                  <a:srgbClr val="62708A"/>
                </a:solidFill>
              </a:rPr>
              <a:t>The system never sends a real claim. The submission target is a mock insurer sandbox.</a:t>
            </a:r>
          </a:p>
        </p:txBody>
      </p:sp>
    </p:spTree>
    <p:extLst>
      <p:ext uri="{BB962C8B-B14F-4D97-AF65-F5344CB8AC3E}">
        <p14:creationId xmlns:p14="http://schemas.microsoft.com/office/powerpoint/2010/main" val="14304576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54641-CD8D-4F6B-9592-E05716CF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09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3AB8F-8A5F-4729-A6F2-0F5B1820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Security and privacy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E1242-8EC9-42DC-8282-F4E126F4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776E1-7BB1-4352-81B3-FEC03BC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3EFFC-1EB6-41AF-85A8-D15D5369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457A7"/>
                </a:solidFill>
              </a:defRPr>
            </a:defPPr>
            <a:lvl1pPr>
              <a:defRPr sz="1500" b="1">
                <a:solidFill>
                  <a:srgbClr val="2457A7"/>
                </a:solidFill>
              </a:defRPr>
            </a:lvl1pPr>
            <a:lvl2pPr>
              <a:defRPr sz="1500" b="1">
                <a:solidFill>
                  <a:srgbClr val="2457A7"/>
                </a:solidFill>
              </a:defRPr>
            </a:lvl2pPr>
            <a:lvl3pPr>
              <a:defRPr sz="1500" b="1">
                <a:solidFill>
                  <a:srgbClr val="2457A7"/>
                </a:solidFill>
              </a:defRPr>
            </a:lvl3pPr>
            <a:lvl4pPr>
              <a:defRPr sz="1500" b="1">
                <a:solidFill>
                  <a:srgbClr val="2457A7"/>
                </a:solidFill>
              </a:defRPr>
            </a:lvl4pPr>
            <a:lvl5pPr>
              <a:defRPr sz="1500" b="1">
                <a:solidFill>
                  <a:srgbClr val="2457A7"/>
                </a:solidFill>
              </a:defRPr>
            </a:lvl5pPr>
            <a:lvl6pPr>
              <a:defRPr sz="1500" b="1">
                <a:solidFill>
                  <a:srgbClr val="2457A7"/>
                </a:solidFill>
              </a:defRPr>
            </a:lvl6pPr>
            <a:lvl7pPr>
              <a:defRPr sz="1500" b="1">
                <a:solidFill>
                  <a:srgbClr val="2457A7"/>
                </a:solidFill>
              </a:defRPr>
            </a:lvl7pPr>
            <a:lvl8pPr>
              <a:defRPr sz="1500" b="1">
                <a:solidFill>
                  <a:srgbClr val="2457A7"/>
                </a:solidFill>
              </a:defRPr>
            </a:lvl8pPr>
            <a:lvl9pPr>
              <a:defRPr sz="15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457A7"/>
                </a:solidFill>
              </a:defRPr>
            </a:pPr>
            <a:r>
              <a:rPr sz="1500" b="1">
                <a:solidFill>
                  <a:srgbClr val="2457A7"/>
                </a:solidFill>
              </a:rPr>
              <a:t>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5F0E8-E0B4-4DFE-ABF4-1A8E7D10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Signed local sessions and per-user policy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E5876-0A00-4E9C-B94B-6DDBDBAB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4953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841AD-2CEE-45AC-B6C1-1E97BBAE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62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457A7"/>
                </a:solidFill>
              </a:defRPr>
            </a:defPPr>
            <a:lvl1pPr>
              <a:defRPr sz="1500" b="1">
                <a:solidFill>
                  <a:srgbClr val="2457A7"/>
                </a:solidFill>
              </a:defRPr>
            </a:lvl1pPr>
            <a:lvl2pPr>
              <a:defRPr sz="1500" b="1">
                <a:solidFill>
                  <a:srgbClr val="2457A7"/>
                </a:solidFill>
              </a:defRPr>
            </a:lvl2pPr>
            <a:lvl3pPr>
              <a:defRPr sz="1500" b="1">
                <a:solidFill>
                  <a:srgbClr val="2457A7"/>
                </a:solidFill>
              </a:defRPr>
            </a:lvl3pPr>
            <a:lvl4pPr>
              <a:defRPr sz="1500" b="1">
                <a:solidFill>
                  <a:srgbClr val="2457A7"/>
                </a:solidFill>
              </a:defRPr>
            </a:lvl4pPr>
            <a:lvl5pPr>
              <a:defRPr sz="1500" b="1">
                <a:solidFill>
                  <a:srgbClr val="2457A7"/>
                </a:solidFill>
              </a:defRPr>
            </a:lvl5pPr>
            <a:lvl6pPr>
              <a:defRPr sz="1500" b="1">
                <a:solidFill>
                  <a:srgbClr val="2457A7"/>
                </a:solidFill>
              </a:defRPr>
            </a:lvl6pPr>
            <a:lvl7pPr>
              <a:defRPr sz="1500" b="1">
                <a:solidFill>
                  <a:srgbClr val="2457A7"/>
                </a:solidFill>
              </a:defRPr>
            </a:lvl7pPr>
            <a:lvl8pPr>
              <a:defRPr sz="1500" b="1">
                <a:solidFill>
                  <a:srgbClr val="2457A7"/>
                </a:solidFill>
              </a:defRPr>
            </a:lvl8pPr>
            <a:lvl9pPr>
              <a:defRPr sz="15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457A7"/>
                </a:solidFill>
              </a:defRPr>
            </a:pPr>
            <a:r>
              <a:rPr sz="1500" b="1">
                <a:solidFill>
                  <a:srgbClr val="2457A7"/>
                </a:solidFill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AE3EB-FDB4-4C63-98BB-663147A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Read, Draft and Submit permission tiers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007F9-5D24-46F1-872D-9E7DE490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953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6C54E-3EE2-40F6-9DFD-F45BFCCB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457A7"/>
                </a:solidFill>
              </a:defRPr>
            </a:defPPr>
            <a:lvl1pPr>
              <a:defRPr sz="1500" b="1">
                <a:solidFill>
                  <a:srgbClr val="2457A7"/>
                </a:solidFill>
              </a:defRPr>
            </a:lvl1pPr>
            <a:lvl2pPr>
              <a:defRPr sz="1500" b="1">
                <a:solidFill>
                  <a:srgbClr val="2457A7"/>
                </a:solidFill>
              </a:defRPr>
            </a:lvl2pPr>
            <a:lvl3pPr>
              <a:defRPr sz="1500" b="1">
                <a:solidFill>
                  <a:srgbClr val="2457A7"/>
                </a:solidFill>
              </a:defRPr>
            </a:lvl3pPr>
            <a:lvl4pPr>
              <a:defRPr sz="1500" b="1">
                <a:solidFill>
                  <a:srgbClr val="2457A7"/>
                </a:solidFill>
              </a:defRPr>
            </a:lvl4pPr>
            <a:lvl5pPr>
              <a:defRPr sz="1500" b="1">
                <a:solidFill>
                  <a:srgbClr val="2457A7"/>
                </a:solidFill>
              </a:defRPr>
            </a:lvl5pPr>
            <a:lvl6pPr>
              <a:defRPr sz="1500" b="1">
                <a:solidFill>
                  <a:srgbClr val="2457A7"/>
                </a:solidFill>
              </a:defRPr>
            </a:lvl6pPr>
            <a:lvl7pPr>
              <a:defRPr sz="1500" b="1">
                <a:solidFill>
                  <a:srgbClr val="2457A7"/>
                </a:solidFill>
              </a:defRPr>
            </a:lvl7pPr>
            <a:lvl8pPr>
              <a:defRPr sz="1500" b="1">
                <a:solidFill>
                  <a:srgbClr val="2457A7"/>
                </a:solidFill>
              </a:defRPr>
            </a:lvl8pPr>
            <a:lvl9pPr>
              <a:defRPr sz="15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457A7"/>
                </a:solidFill>
              </a:defRPr>
            </a:pPr>
            <a:r>
              <a:rPr sz="1500" b="1">
                <a:solidFill>
                  <a:srgbClr val="2457A7"/>
                </a:solidFill>
              </a:rPr>
              <a:t>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A5810-9B71-4634-B9EC-A70C67E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Hash-chained log for allowed and denied tool 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C70B0-0CB8-4E8B-B7FF-B8CB78AA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62375"/>
            <a:ext cx="4953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29D88-17DC-441E-843B-40346128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71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457A7"/>
                </a:solidFill>
              </a:defRPr>
            </a:defPPr>
            <a:lvl1pPr>
              <a:defRPr sz="1500" b="1">
                <a:solidFill>
                  <a:srgbClr val="2457A7"/>
                </a:solidFill>
              </a:defRPr>
            </a:lvl1pPr>
            <a:lvl2pPr>
              <a:defRPr sz="1500" b="1">
                <a:solidFill>
                  <a:srgbClr val="2457A7"/>
                </a:solidFill>
              </a:defRPr>
            </a:lvl2pPr>
            <a:lvl3pPr>
              <a:defRPr sz="1500" b="1">
                <a:solidFill>
                  <a:srgbClr val="2457A7"/>
                </a:solidFill>
              </a:defRPr>
            </a:lvl3pPr>
            <a:lvl4pPr>
              <a:defRPr sz="1500" b="1">
                <a:solidFill>
                  <a:srgbClr val="2457A7"/>
                </a:solidFill>
              </a:defRPr>
            </a:lvl4pPr>
            <a:lvl5pPr>
              <a:defRPr sz="1500" b="1">
                <a:solidFill>
                  <a:srgbClr val="2457A7"/>
                </a:solidFill>
              </a:defRPr>
            </a:lvl5pPr>
            <a:lvl6pPr>
              <a:defRPr sz="1500" b="1">
                <a:solidFill>
                  <a:srgbClr val="2457A7"/>
                </a:solidFill>
              </a:defRPr>
            </a:lvl6pPr>
            <a:lvl7pPr>
              <a:defRPr sz="1500" b="1">
                <a:solidFill>
                  <a:srgbClr val="2457A7"/>
                </a:solidFill>
              </a:defRPr>
            </a:lvl7pPr>
            <a:lvl8pPr>
              <a:defRPr sz="1500" b="1">
                <a:solidFill>
                  <a:srgbClr val="2457A7"/>
                </a:solidFill>
              </a:defRPr>
            </a:lvl8pPr>
            <a:lvl9pPr>
              <a:defRPr sz="15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457A7"/>
                </a:solidFill>
              </a:defRPr>
            </a:pPr>
            <a:r>
              <a:rPr sz="1500" b="1">
                <a:solidFill>
                  <a:srgbClr val="2457A7"/>
                </a:solidFill>
              </a:rPr>
              <a:t>Privacy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CFAEC-552C-463C-AA81-6D005F3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4340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Local data stays out of GitHub and model calls remain on localhost</a:t>
            </a:r>
          </a:p>
        </p:txBody>
      </p:sp>
    </p:spTree>
    <p:extLst>
      <p:ext uri="{BB962C8B-B14F-4D97-AF65-F5344CB8AC3E}">
        <p14:creationId xmlns:p14="http://schemas.microsoft.com/office/powerpoint/2010/main" val="13754715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BA72A-7EBA-4E06-8628-BDB45D2E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457A7"/>
                </a:solidFill>
              </a:defRPr>
            </a:defPPr>
            <a:lvl1pPr>
              <a:defRPr sz="900" b="1">
                <a:solidFill>
                  <a:srgbClr val="2457A7"/>
                </a:solidFill>
              </a:defRPr>
            </a:lvl1pPr>
            <a:lvl2pPr>
              <a:defRPr sz="900" b="1">
                <a:solidFill>
                  <a:srgbClr val="2457A7"/>
                </a:solidFill>
              </a:defRPr>
            </a:lvl2pPr>
            <a:lvl3pPr>
              <a:defRPr sz="900" b="1">
                <a:solidFill>
                  <a:srgbClr val="2457A7"/>
                </a:solidFill>
              </a:defRPr>
            </a:lvl3pPr>
            <a:lvl4pPr>
              <a:defRPr sz="900" b="1">
                <a:solidFill>
                  <a:srgbClr val="2457A7"/>
                </a:solidFill>
              </a:defRPr>
            </a:lvl4pPr>
            <a:lvl5pPr>
              <a:defRPr sz="900" b="1">
                <a:solidFill>
                  <a:srgbClr val="2457A7"/>
                </a:solidFill>
              </a:defRPr>
            </a:lvl5pPr>
            <a:lvl6pPr>
              <a:defRPr sz="900" b="1">
                <a:solidFill>
                  <a:srgbClr val="2457A7"/>
                </a:solidFill>
              </a:defRPr>
            </a:lvl6pPr>
            <a:lvl7pPr>
              <a:defRPr sz="900" b="1">
                <a:solidFill>
                  <a:srgbClr val="2457A7"/>
                </a:solidFill>
              </a:defRPr>
            </a:lvl7pPr>
            <a:lvl8pPr>
              <a:defRPr sz="900" b="1">
                <a:solidFill>
                  <a:srgbClr val="2457A7"/>
                </a:solidFill>
              </a:defRPr>
            </a:lvl8pPr>
            <a:lvl9pPr>
              <a:defRPr sz="900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457A7"/>
                </a:solidFill>
              </a:defRPr>
            </a:pPr>
            <a:r>
              <a:rPr sz="900" b="1">
                <a:solidFill>
                  <a:srgbClr val="2457A7"/>
                </a:solidFill>
              </a:rPr>
              <a:t>010  CUBIC.AI INSURANCE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98E9E-1AC7-4471-9D01-25A40C0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56"/>
                </a:solidFill>
              </a:defRPr>
            </a:defPPr>
            <a:lvl1pPr>
              <a:defRPr sz="2550" b="1">
                <a:solidFill>
                  <a:srgbClr val="102A56"/>
                </a:solidFill>
              </a:defRPr>
            </a:lvl1pPr>
            <a:lvl2pPr>
              <a:defRPr sz="2550" b="1">
                <a:solidFill>
                  <a:srgbClr val="102A56"/>
                </a:solidFill>
              </a:defRPr>
            </a:lvl2pPr>
            <a:lvl3pPr>
              <a:defRPr sz="2550" b="1">
                <a:solidFill>
                  <a:srgbClr val="102A56"/>
                </a:solidFill>
              </a:defRPr>
            </a:lvl3pPr>
            <a:lvl4pPr>
              <a:defRPr sz="2550" b="1">
                <a:solidFill>
                  <a:srgbClr val="102A56"/>
                </a:solidFill>
              </a:defRPr>
            </a:lvl4pPr>
            <a:lvl5pPr>
              <a:defRPr sz="2550" b="1">
                <a:solidFill>
                  <a:srgbClr val="102A56"/>
                </a:solidFill>
              </a:defRPr>
            </a:lvl5pPr>
            <a:lvl6pPr>
              <a:defRPr sz="2550" b="1">
                <a:solidFill>
                  <a:srgbClr val="102A56"/>
                </a:solidFill>
              </a:defRPr>
            </a:lvl6pPr>
            <a:lvl7pPr>
              <a:defRPr sz="2550" b="1">
                <a:solidFill>
                  <a:srgbClr val="102A56"/>
                </a:solidFill>
              </a:defRPr>
            </a:lvl7pPr>
            <a:lvl8pPr>
              <a:defRPr sz="2550" b="1">
                <a:solidFill>
                  <a:srgbClr val="102A56"/>
                </a:solidFill>
              </a:defRPr>
            </a:lvl8pPr>
            <a:lvl9pPr>
              <a:defRPr sz="2550" b="1">
                <a:solidFill>
                  <a:srgbClr val="102A5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56"/>
                </a:solidFill>
              </a:defRPr>
            </a:pPr>
            <a:r>
              <a:rPr sz="2550" b="1">
                <a:solidFill>
                  <a:srgbClr val="102A56"/>
                </a:solidFill>
              </a:rPr>
              <a:t>Demonstration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62F48-777A-41E4-BE3E-EA7FCBC0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08A"/>
                </a:solidFill>
              </a:defRPr>
            </a:defPPr>
            <a:lvl1pPr>
              <a:defRPr sz="825" b="1">
                <a:solidFill>
                  <a:srgbClr val="62708A"/>
                </a:solidFill>
              </a:defRPr>
            </a:lvl1pPr>
            <a:lvl2pPr>
              <a:defRPr sz="825" b="1">
                <a:solidFill>
                  <a:srgbClr val="62708A"/>
                </a:solidFill>
              </a:defRPr>
            </a:lvl2pPr>
            <a:lvl3pPr>
              <a:defRPr sz="825" b="1">
                <a:solidFill>
                  <a:srgbClr val="62708A"/>
                </a:solidFill>
              </a:defRPr>
            </a:lvl3pPr>
            <a:lvl4pPr>
              <a:defRPr sz="825" b="1">
                <a:solidFill>
                  <a:srgbClr val="62708A"/>
                </a:solidFill>
              </a:defRPr>
            </a:lvl4pPr>
            <a:lvl5pPr>
              <a:defRPr sz="825" b="1">
                <a:solidFill>
                  <a:srgbClr val="62708A"/>
                </a:solidFill>
              </a:defRPr>
            </a:lvl5pPr>
            <a:lvl6pPr>
              <a:defRPr sz="825" b="1">
                <a:solidFill>
                  <a:srgbClr val="62708A"/>
                </a:solidFill>
              </a:defRPr>
            </a:lvl6pPr>
            <a:lvl7pPr>
              <a:defRPr sz="825" b="1">
                <a:solidFill>
                  <a:srgbClr val="62708A"/>
                </a:solidFill>
              </a:defRPr>
            </a:lvl7pPr>
            <a:lvl8pPr>
              <a:defRPr sz="825" b="1">
                <a:solidFill>
                  <a:srgbClr val="62708A"/>
                </a:solidFill>
              </a:defRPr>
            </a:lvl8pPr>
            <a:lvl9pPr>
              <a:defRPr sz="825" b="1">
                <a:solidFill>
                  <a:srgbClr val="62708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08A"/>
                </a:solidFill>
              </a:defRPr>
            </a:pPr>
            <a:r>
              <a:rPr sz="825" b="1">
                <a:solidFill>
                  <a:srgbClr val="62708A"/>
                </a:solidFill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BBEAF-8C92-473B-A2DB-73B9157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D8845-FC16-4DD8-B278-0ABF497E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Upload a policy, review clause labels and ask a cited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34096-9C4A-47C3-A1FD-60AE88B9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030EB-B17C-4010-AADF-F691B413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Run coverage situations, then generate a claim checklist and draft.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E67F4-0948-4192-A97A-1D23FAAD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561FD-295C-444C-AD6B-A58CE0A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Show the explicit sandbox confirmation and verify the audit 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EBDAC-E179-441D-8A7E-60A7C35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55244-0509-40A6-9B22-2432DA3C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  <a:lvl1pPr>
              <a:defRPr sz="1350" b="0">
                <a:solidFill>
                  <a:srgbClr val="172033"/>
                </a:solidFill>
              </a:defRPr>
            </a:lvl1pPr>
            <a:lvl2pPr>
              <a:defRPr sz="1350" b="0">
                <a:solidFill>
                  <a:srgbClr val="172033"/>
                </a:solidFill>
              </a:defRPr>
            </a:lvl2pPr>
            <a:lvl3pPr>
              <a:defRPr sz="1350" b="0">
                <a:solidFill>
                  <a:srgbClr val="172033"/>
                </a:solidFill>
              </a:defRPr>
            </a:lvl3pPr>
            <a:lvl4pPr>
              <a:defRPr sz="1350" b="0">
                <a:solidFill>
                  <a:srgbClr val="172033"/>
                </a:solidFill>
              </a:defRPr>
            </a:lvl4pPr>
            <a:lvl5pPr>
              <a:defRPr sz="1350" b="0">
                <a:solidFill>
                  <a:srgbClr val="172033"/>
                </a:solidFill>
              </a:defRPr>
            </a:lvl5pPr>
            <a:lvl6pPr>
              <a:defRPr sz="1350" b="0">
                <a:solidFill>
                  <a:srgbClr val="172033"/>
                </a:solidFill>
              </a:defRPr>
            </a:lvl6pPr>
            <a:lvl7pPr>
              <a:defRPr sz="1350" b="0">
                <a:solidFill>
                  <a:srgbClr val="172033"/>
                </a:solidFill>
              </a:defRPr>
            </a:lvl7pPr>
            <a:lvl8pPr>
              <a:defRPr sz="1350" b="0">
                <a:solidFill>
                  <a:srgbClr val="172033"/>
                </a:solidFill>
              </a:defRPr>
            </a:lvl8pPr>
            <a:lvl9pPr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Continue the selected policy in chat for follow-up questions.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4C76B-A4D0-4F7B-AA6D-075F5413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7A7"/>
                </a:solidFill>
              </a:defRPr>
            </a:defPPr>
            <a:lvl1pPr>
              <a:defRPr sz="1425" b="1">
                <a:solidFill>
                  <a:srgbClr val="2457A7"/>
                </a:solidFill>
              </a:defRPr>
            </a:lvl1pPr>
            <a:lvl2pPr>
              <a:defRPr sz="1425" b="1">
                <a:solidFill>
                  <a:srgbClr val="2457A7"/>
                </a:solidFill>
              </a:defRPr>
            </a:lvl2pPr>
            <a:lvl3pPr>
              <a:defRPr sz="1425" b="1">
                <a:solidFill>
                  <a:srgbClr val="2457A7"/>
                </a:solidFill>
              </a:defRPr>
            </a:lvl3pPr>
            <a:lvl4pPr>
              <a:defRPr sz="1425" b="1">
                <a:solidFill>
                  <a:srgbClr val="2457A7"/>
                </a:solidFill>
              </a:defRPr>
            </a:lvl4pPr>
            <a:lvl5pPr>
              <a:defRPr sz="1425" b="1">
                <a:solidFill>
                  <a:srgbClr val="2457A7"/>
                </a:solidFill>
              </a:defRPr>
            </a:lvl5pPr>
            <a:lvl6pPr>
              <a:defRPr sz="1425" b="1">
                <a:solidFill>
                  <a:srgbClr val="2457A7"/>
                </a:solidFill>
              </a:defRPr>
            </a:lvl6pPr>
            <a:lvl7pPr>
              <a:defRPr sz="1425" b="1">
                <a:solidFill>
                  <a:srgbClr val="2457A7"/>
                </a:solidFill>
              </a:defRPr>
            </a:lvl7pPr>
            <a:lvl8pPr>
              <a:defRPr sz="1425" b="1">
                <a:solidFill>
                  <a:srgbClr val="2457A7"/>
                </a:solidFill>
              </a:defRPr>
            </a:lvl8pPr>
            <a:lvl9pPr>
              <a:defRPr sz="1425" b="1">
                <a:solidFill>
                  <a:srgbClr val="2457A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57A7"/>
                </a:solidFill>
              </a:defRPr>
            </a:pPr>
            <a:r>
              <a:rPr sz="1425" b="1">
                <a:solidFill>
                  <a:srgbClr val="2457A7"/>
                </a:solidFill>
              </a:rPr>
              <a:t>Next evaluation: use held-out public policy wordings and independent reviewers.</a:t>
            </a:r>
          </a:p>
        </p:txBody>
      </p:sp>
    </p:spTree>
    <p:extLst>
      <p:ext uri="{BB962C8B-B14F-4D97-AF65-F5344CB8AC3E}">
        <p14:creationId xmlns:p14="http://schemas.microsoft.com/office/powerpoint/2010/main" val="1570468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2026-10-18T17:40:55.7810000Z</dcterms:created>
  <dcterms:modified xsi:type="dcterms:W3CDTF">2026-10-18T17:40:55.7810000Z</dcterms:modified>
</coreProperties>
</file>